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120fd4b11e45f4" /><Relationship Type="http://schemas.openxmlformats.org/officeDocument/2006/relationships/extended-properties" Target="/docProps/app.xml" Id="R822994d1d0d940c1" /><Relationship Type="http://schemas.openxmlformats.org/officeDocument/2006/relationships/officeDocument" Target="/ppt/presentation.xml" Id="Ra7e8664c28ea4eaa" /></Relationships>
</file>

<file path=ppt/presentation.xml><?xml version="1.0" encoding="utf-8"?>
<p:presentation xmlns:p="http://schemas.openxmlformats.org/presentationml/2006/main">
  <p:sldMasterIdLst>
    <p:sldMasterId xmlns:r="http://schemas.openxmlformats.org/officeDocument/2006/relationships" id="2147483648" r:id="Rf105a9f8858844fb"/>
  </p:sldMasterIdLst>
  <p:notesMasterIdLst>
    <p:notesMasterId xmlns:r="http://schemas.openxmlformats.org/officeDocument/2006/relationships" r:id="R539d6152634a4929"/>
  </p:notesMasterIdLst>
  <p:sldIdLst>
    <p:sldId xmlns:r="http://schemas.openxmlformats.org/officeDocument/2006/relationships" id="256" r:id="Rb67a6d6566414db7"/>
    <p:sldId xmlns:r="http://schemas.openxmlformats.org/officeDocument/2006/relationships" id="257" r:id="R960805bb5d9847e7"/>
    <p:sldId xmlns:r="http://schemas.openxmlformats.org/officeDocument/2006/relationships" id="258" r:id="R9497591b49c743d0"/>
    <p:sldId xmlns:r="http://schemas.openxmlformats.org/officeDocument/2006/relationships" id="259" r:id="R3ecc1e84baba4474"/>
    <p:sldId xmlns:r="http://schemas.openxmlformats.org/officeDocument/2006/relationships" id="260" r:id="R7d2c88ac24db425d"/>
    <p:sldId xmlns:r="http://schemas.openxmlformats.org/officeDocument/2006/relationships" id="261" r:id="Recae049078664cd2"/>
    <p:sldId xmlns:r="http://schemas.openxmlformats.org/officeDocument/2006/relationships" id="262" r:id="R246e77c1f63f4459"/>
    <p:sldId xmlns:r="http://schemas.openxmlformats.org/officeDocument/2006/relationships" id="263" r:id="R15b798e7d57e4a37"/>
    <p:sldId xmlns:r="http://schemas.openxmlformats.org/officeDocument/2006/relationships" id="264" r:id="Rc230fd2f1f614a69"/>
    <p:sldId xmlns:r="http://schemas.openxmlformats.org/officeDocument/2006/relationships" id="265" r:id="R915e2c99855344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aae25fd4bc459c" /><Relationship Type="http://schemas.openxmlformats.org/officeDocument/2006/relationships/slideMaster" Target="/ppt/slideMasters/slideMaster1.xml" Id="Rf105a9f8858844fb" /><Relationship Type="http://schemas.openxmlformats.org/officeDocument/2006/relationships/notesMaster" Target="/ppt/notesMasters/notesMaster1.xml" Id="R539d6152634a4929" /><Relationship Type="http://schemas.openxmlformats.org/officeDocument/2006/relationships/presProps" Target="/ppt/presProps.xml" Id="R79861004d3184ae1" /><Relationship Type="http://schemas.openxmlformats.org/officeDocument/2006/relationships/viewProps" Target="/ppt/viewProps.xml" Id="Rd436025c499945bd" /><Relationship Type="http://schemas.openxmlformats.org/officeDocument/2006/relationships/tableStyles" Target="/ppt/tableStyles.xml" Id="Rce68fee478cb4861" /><Relationship Type="http://schemas.openxmlformats.org/officeDocument/2006/relationships/slide" Target="/ppt/slides/slide1.xml" Id="Rb67a6d6566414db7" /><Relationship Type="http://schemas.openxmlformats.org/officeDocument/2006/relationships/slide" Target="/ppt/slides/slide2.xml" Id="R960805bb5d9847e7" /><Relationship Type="http://schemas.openxmlformats.org/officeDocument/2006/relationships/slide" Target="/ppt/slides/slide3.xml" Id="R9497591b49c743d0" /><Relationship Type="http://schemas.openxmlformats.org/officeDocument/2006/relationships/slide" Target="/ppt/slides/slide4.xml" Id="R3ecc1e84baba4474" /><Relationship Type="http://schemas.openxmlformats.org/officeDocument/2006/relationships/slide" Target="/ppt/slides/slide5.xml" Id="R7d2c88ac24db425d" /><Relationship Type="http://schemas.openxmlformats.org/officeDocument/2006/relationships/slide" Target="/ppt/slides/slide6.xml" Id="Recae049078664cd2" /><Relationship Type="http://schemas.openxmlformats.org/officeDocument/2006/relationships/slide" Target="/ppt/slides/slide7.xml" Id="R246e77c1f63f4459" /><Relationship Type="http://schemas.openxmlformats.org/officeDocument/2006/relationships/slide" Target="/ppt/slides/slide8.xml" Id="R15b798e7d57e4a37" /><Relationship Type="http://schemas.openxmlformats.org/officeDocument/2006/relationships/slide" Target="/ppt/slides/slide9.xml" Id="Rc230fd2f1f614a69" /><Relationship Type="http://schemas.openxmlformats.org/officeDocument/2006/relationships/slide" Target="/ppt/slides/slide10.xml" Id="R915e2c99855344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cbeb2d14e441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86ed04c34a490c" /><Relationship Type="http://schemas.openxmlformats.org/officeDocument/2006/relationships/notesMaster" Target="/ppt/notesMasters/notesMaster1.xml" Id="R9de65248d9d840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868871c2c349d5" /><Relationship Type="http://schemas.openxmlformats.org/officeDocument/2006/relationships/notesMaster" Target="/ppt/notesMasters/notesMaster1.xml" Id="R0091cdb8fd5244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599dda08b742ea" /><Relationship Type="http://schemas.openxmlformats.org/officeDocument/2006/relationships/notesMaster" Target="/ppt/notesMasters/notesMaster1.xml" Id="R4d30882e241246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a26a4043754dea" /><Relationship Type="http://schemas.openxmlformats.org/officeDocument/2006/relationships/notesMaster" Target="/ppt/notesMasters/notesMaster1.xml" Id="R515631afe1fd45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844564e0664f69" /><Relationship Type="http://schemas.openxmlformats.org/officeDocument/2006/relationships/notesMaster" Target="/ppt/notesMasters/notesMaster1.xml" Id="R5b3c888478bb4b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71398ab0ec4478" /><Relationship Type="http://schemas.openxmlformats.org/officeDocument/2006/relationships/notesMaster" Target="/ppt/notesMasters/notesMaster1.xml" Id="R49fa8d90b1b044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7af791915e4c8e" /><Relationship Type="http://schemas.openxmlformats.org/officeDocument/2006/relationships/notesMaster" Target="/ppt/notesMasters/notesMaster1.xml" Id="R18adfc84e2f745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7046715d9498c" /><Relationship Type="http://schemas.openxmlformats.org/officeDocument/2006/relationships/notesMaster" Target="/ppt/notesMasters/notesMaster1.xml" Id="Re39b939e466a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3c8f21966d4796" /><Relationship Type="http://schemas.openxmlformats.org/officeDocument/2006/relationships/notesMaster" Target="/ppt/notesMasters/notesMaster1.xml" Id="Rec44cee97a4e41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55e2732700473e" /><Relationship Type="http://schemas.openxmlformats.org/officeDocument/2006/relationships/notesMaster" Target="/ppt/notesMasters/notesMaster1.xml" Id="Re44d2f82e30b4b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0:30</a:t>
            </a:r>
          </a:p>
          <a:p xmlns:a="http://schemas.openxmlformats.org/drawingml/2006/main">
            <a:r>
              <a:t>Talk track: Open with the final thesis: points per game is familiar, but it does not explain how responsibility is distributed. Frame the talk around what changed after the midterm, what the final workflows do, and what usability testing taught us.</a:t>
            </a:r>
          </a:p>
          <a:p xmlns:a="http://schemas.openxmlformats.org/drawingml/2006/main">
            <a:r>
              <a:t/>
            </a:r>
          </a:p>
          <a:p xmlns:a="http://schemas.openxmlformats.org/drawingml/2006/main">
            <a:r>
              <a:rPr b="1"/>
              <a:t>[Sources]</a:t>
            </a:r>
          </a:p>
          <a:p xmlns:a="http://schemas.openxmlformats.org/drawingml/2006/main">
            <a:r>
              <a:t>- Final deployed project screenshot captured 2026-07-29.</a:t>
            </a:r>
          </a:p>
          <a:p xmlns:a="http://schemas.openxmlformats.org/drawingml/2006/main">
            <a:r>
              <a:t>- Live project: https://kennydolgin.github.io/nba-project/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1:00</a:t>
            </a:r>
          </a:p>
          <a:p xmlns:a="http://schemas.openxmlformats.org/drawingml/2006/main">
            <a:r>
              <a:t>Talk track: Do not re-present the midterm analysis. Use this slide only to establish the delta: the final product changed its framing, interaction state, and unit of exploration.</a:t>
            </a:r>
          </a:p>
          <a:p xmlns:a="http://schemas.openxmlformats.org/drawingml/2006/main">
            <a:r>
              <a:t/>
            </a:r>
          </a:p>
          <a:p xmlns:a="http://schemas.openxmlformats.org/drawingml/2006/main">
            <a:r>
              <a:t>[Sources]</a:t>
            </a:r>
          </a:p>
          <a:p xmlns:a="http://schemas.openxmlformats.org/drawingml/2006/main">
            <a:r>
              <a:t>- Earlier project QA screenshot: outputs/github_pages_role_explorer_prototype.png.</a:t>
            </a:r>
          </a:p>
          <a:p xmlns:a="http://schemas.openxmlformats.org/drawingml/2006/main">
            <a:r>
              <a:t>- Final deployed project screenshot captured 2026-07-29.</a:t>
            </a:r>
          </a:p>
          <a:p xmlns:a="http://schemas.openxmlformats.org/drawingml/2006/main">
            <a:r>
              <a:rPr b="1"/>
              <a:t>- Commit 68b2882: Incorporate usability study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3:00</a:t>
            </a:r>
          </a:p>
          <a:p xmlns:a="http://schemas.openxmlformats.org/drawingml/2006/main">
            <a:r>
              <a:t>Talk track: Move to the live Role Explorer. Select LeBron James 2020 LAL and James Harden 2025 LAC. Show the comparison sentence, role map, fingerprint, and closest matches. Explicitly say that the comparison is descriptive and not a player ranking.</a:t>
            </a:r>
          </a:p>
          <a:p xmlns:a="http://schemas.openxmlformats.org/drawingml/2006/main">
            <a:r>
              <a:t/>
            </a:r>
          </a:p>
          <a:p xmlns:a="http://schemas.openxmlformats.org/drawingml/2006/main">
            <a:r>
              <a:t>[Sources]</a:t>
            </a:r>
          </a:p>
          <a:p xmlns:a="http://schemas.openxmlformats.org/drawingml/2006/main">
            <a:r>
              <a:rPr b="1"/>
              <a:t>- Live project: https://kennydolgin.github.io/nba-project/</a:t>
            </a:r>
          </a:p>
          <a:p xmlns:a="http://schemas.openxmlformats.org/drawingml/2006/main">
            <a:r>
              <a:t>- Final deployed Role Explorer screenshot captured 2026-07-29.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Ryan</a:t>
            </a:r>
          </a:p>
          <a:p xmlns:a="http://schemas.openxmlformats.org/drawingml/2006/main">
            <a:r>
              <a:t>Timing: 3:00</a:t>
            </a:r>
          </a:p>
          <a:p xmlns:a="http://schemas.openxmlformats.org/drawingml/2006/main">
            <a:r>
              <a:t>Talk track: Move to Team Roster Lab. Choose Oklahoma City, select one player, switch from Roster map to Coverage, add Boston as the comparison team, and use Swap teams. Explain that swapping changes the active roster while preserving the previous team for comparison, and that the benchmark is descriptive rather than causal.</a:t>
            </a:r>
          </a:p>
          <a:p xmlns:a="http://schemas.openxmlformats.org/drawingml/2006/main">
            <a:r>
              <a:t/>
            </a:r>
          </a:p>
          <a:p xmlns:a="http://schemas.openxmlformats.org/drawingml/2006/main">
            <a:r>
              <a:t>[Sources]</a:t>
            </a:r>
          </a:p>
          <a:p xmlns:a="http://schemas.openxmlformats.org/drawingml/2006/main">
            <a:r>
              <a:t>- Live project: https://kennydolgin.github.io/nba-project/map.html</a:t>
            </a:r>
          </a:p>
          <a:p xmlns:a="http://schemas.openxmlformats.org/drawingml/2006/main">
            <a:r>
              <a:t>- Final deployed Team Roster Lab screenshot captured 2026-07-29.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Ryan</a:t>
            </a:r>
          </a:p>
          <a:p xmlns:a="http://schemas.openxmlformats.org/drawingml/2006/main">
            <a:r>
              <a:t>Timing: 1:30</a:t>
            </a:r>
          </a:p>
          <a:p xmlns:a="http://schemas.openxmlformats.org/drawingml/2006/main">
            <a:r>
              <a:t>Talk track: Name the study as one usability round with six participants: Ryan P01–P03 and Kenny K-01 Paul, K-02 Caroline, and K-03 Sean. Explain that the team tracked observed behavior and interpretation errors, not just preferences.</a:t>
            </a:r>
          </a:p>
          <a:p xmlns:a="http://schemas.openxmlformats.org/drawingml/2006/main">
            <a:r>
              <a:t/>
            </a:r>
          </a:p>
          <a:p xmlns:a="http://schemas.openxmlformats.org/drawingml/2006/main">
            <a:r>
              <a:t>[Sources]</a:t>
            </a:r>
          </a:p>
          <a:p xmlns:a="http://schemas.openxmlformats.org/drawingml/2006/main">
            <a:r>
              <a:t>- outputs/Beyond_Points_Group_Final_Usability_Study_Assignment_Ready.docx.</a:t>
            </a:r>
          </a:p>
          <a:p xmlns:a="http://schemas.openxmlformats.org/drawingml/2006/main">
            <a:r>
              <a:t>- tools/build_group_usability_study_final.py, study overview and participant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Ryan</a:t>
            </a:r>
          </a:p>
          <a:p xmlns:a="http://schemas.openxmlformats.org/drawingml/2006/main">
            <a:r>
              <a:t>Timing: 1:30</a:t>
            </a:r>
          </a:p>
          <a:p xmlns:a="http://schemas.openxmlformats.org/drawingml/2006/main">
            <a:r>
              <a:t>Talk track: Continue directly from the study method into the repeated failure pattern. Two participants made explicit ranking or causal interpretations; other participants independently flagged evaluative wording. Connect terminology, dense evidence, and lost hover state to the design priorities.</a:t>
            </a:r>
          </a:p>
          <a:p xmlns:a="http://schemas.openxmlformats.org/drawingml/2006/main">
            <a:r>
              <a:t/>
            </a:r>
          </a:p>
          <a:p xmlns:a="http://schemas.openxmlformats.org/drawingml/2006/main">
            <a:r>
              <a:t>[Sources]</a:t>
            </a:r>
          </a:p>
          <a:p xmlns:a="http://schemas.openxmlformats.org/drawingml/2006/main">
            <a:r>
              <a:rPr b="1"/>
              <a:t>- Cross-participant findings in outputs/Beyond_Points_Group_Final_Usability_Study_Assignment_Ready.docx.</a:t>
            </a:r>
          </a:p>
          <a:p xmlns:a="http://schemas.openxmlformats.org/drawingml/2006/main">
            <a:r>
              <a:t>- Participant logs: Ryan P01–P03 and Kenny K-01–K-03.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Ryan</a:t>
            </a:r>
          </a:p>
          <a:p xmlns:a="http://schemas.openxmlformats.org/drawingml/2006/main">
            <a:r>
              <a:t>Timing: 1:30</a:t>
            </a:r>
          </a:p>
          <a:p xmlns:a="http://schemas.openxmlformats.org/drawingml/2006/main">
            <a:r>
              <a:t>Talk track: Tie every visible change to an observed issue: neutral titles for ranking risk, local definitions for terminology, persistent state for lost hover context, exact values for dense-chart tasks, repeated similarity caveats, and the aligned value-label gutter that keeps 90th-to-100th-percentile labels readable.</a:t>
            </a:r>
          </a:p>
          <a:p xmlns:a="http://schemas.openxmlformats.org/drawingml/2006/main">
            <a:r>
              <a:t/>
            </a:r>
          </a:p>
          <a:p xmlns:a="http://schemas.openxmlformats.org/drawingml/2006/main">
            <a:r>
              <a:t>[Sources]</a:t>
            </a:r>
          </a:p>
          <a:p xmlns:a="http://schemas.openxmlformats.org/drawingml/2006/main">
            <a:r>
              <a:t>- Commit 68b2882: Incorporate usability study feedback.</a:t>
            </a:r>
          </a:p>
          <a:p xmlns:a="http://schemas.openxmlformats.org/drawingml/2006/main">
            <a:r>
              <a:rPr b="1"/>
              <a:t>- Final deployed Role Fingerprint screenshot captured 2026-07-29.</a:t>
            </a:r>
          </a:p>
          <a:p xmlns:a="http://schemas.openxmlformats.org/drawingml/2006/main">
            <a:r>
              <a:t>- Group usability-study MoSCoW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1:15</a:t>
            </a:r>
          </a:p>
          <a:p xmlns:a="http://schemas.openxmlformats.org/drawingml/2006/main">
            <a:r>
              <a:t>Talk track: Begin the final Kenny block by explaining the decision, not just the visual change. The map was intuitive, but it did not advance the player-role question and state averages could hide team differences. The Roster Lab turns team context into a roster-structure question, and Swap teams lets the comparison work in both directions.</a:t>
            </a:r>
          </a:p>
          <a:p xmlns:a="http://schemas.openxmlformats.org/drawingml/2006/main">
            <a:r>
              <a:t/>
            </a:r>
          </a:p>
          <a:p xmlns:a="http://schemas.openxmlformats.org/drawingml/2006/main">
            <a:r>
              <a:t>[Sources]</a:t>
            </a:r>
          </a:p>
          <a:p xmlns:a="http://schemas.openxmlformats.org/drawingml/2006/main">
            <a:r>
              <a:t>- Earlier project QA screenshot: outputs/github_pages_team_map_prototype.png.</a:t>
            </a:r>
          </a:p>
          <a:p xmlns:a="http://schemas.openxmlformats.org/drawingml/2006/main">
            <a:r>
              <a:t>- Final deployed Team Roster Lab screenshot captured 2026-07-29.</a:t>
            </a:r>
          </a:p>
          <a:p xmlns:a="http://schemas.openxmlformats.org/drawingml/2006/main">
            <a:r>
              <a:rPr b="1"/>
              <a:t>- Commits 3889696 and 564faf6.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0:45</a:t>
            </a:r>
          </a:p>
          <a:p xmlns:a="http://schemas.openxmlformats.org/drawingml/2006/main">
            <a:r>
              <a:t>Talk track: Continue from the design decision into the required tool-choice rationale. Flask made local development and data routes straightforward; D3 supported custom linked interactions; the static export removed server-hosting complexity for the public class demonstration.</a:t>
            </a:r>
          </a:p>
          <a:p xmlns:a="http://schemas.openxmlformats.org/drawingml/2006/main">
            <a:r>
              <a:t/>
            </a:r>
          </a:p>
          <a:p xmlns:a="http://schemas.openxmlformats.org/drawingml/2006/main">
            <a:r>
              <a:t>[Sources]</a:t>
            </a:r>
          </a:p>
          <a:p xmlns:a="http://schemas.openxmlformats.org/drawingml/2006/main">
            <a:r>
              <a:rPr b="1"/>
              <a:t>- app.py and templates/.</a:t>
            </a:r>
          </a:p>
          <a:p xmlns:a="http://schemas.openxmlformats.org/drawingml/2006/main">
            <a:r>
              <a:t>- static/js/app.js and static/js/team_explorer.js.</a:t>
            </a:r>
          </a:p>
          <a:p xmlns:a="http://schemas.openxmlformats.org/drawingml/2006/main">
            <a:r>
              <a:t>- tools/build_static_pages.py and .github/workflows/pages.yml.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Kenny</a:t>
            </a:r>
          </a:p>
          <a:p xmlns:a="http://schemas.openxmlformats.org/drawingml/2006/main">
            <a:r>
              <a:t>Timing: 1:00</a:t>
            </a:r>
          </a:p>
          <a:p xmlns:a="http://schemas.openxmlformats.org/drawingml/2006/main">
            <a:r>
              <a:t>Talk track: Close the final Kenny block by resolving the opening: the project now supports exploration without pretending to be a player grade or causal model. Name the remaining limitations, invite questions, and keep both team members available for discussion.</a:t>
            </a:r>
          </a:p>
          <a:p xmlns:a="http://schemas.openxmlformats.org/drawingml/2006/main">
            <a:r>
              <a:t/>
            </a:r>
          </a:p>
          <a:p xmlns:a="http://schemas.openxmlformats.org/drawingml/2006/main">
            <a:r>
              <a:t>[Sources]</a:t>
            </a:r>
          </a:p>
          <a:p xmlns:a="http://schemas.openxmlformats.org/drawingml/2006/main">
            <a:r>
              <a:t>- Final project application and About &amp; Methodology page.</a:t>
            </a:r>
          </a:p>
          <a:p xmlns:a="http://schemas.openxmlformats.org/drawingml/2006/main">
            <a:r>
              <a:t>- Group usability-study conclusions and MoSCoW priorities.</a:t>
            </a:r>
          </a:p>
          <a:p xmlns:a="http://schemas.openxmlformats.org/drawingml/2006/main">
            <a:r>
              <a:t>- Live project URL verified 2026-07-29.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eead1e34c845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1f016dffec49b0" /><Relationship Type="http://schemas.openxmlformats.org/officeDocument/2006/relationships/slideLayout" Target="/ppt/slideLayouts/slideLayout1.xml" Id="Rfc7e46f0644848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7e46f0644848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d48e0704874eb7" /><Relationship Type="http://schemas.openxmlformats.org/officeDocument/2006/relationships/image" Target="/ppt/media/image.jpeg" Id="R24dd10d6952f426f" /><Relationship Type="http://schemas.openxmlformats.org/officeDocument/2006/relationships/notesSlide" Target="/ppt/notesSlides/notesSlide1.xml" Id="R081d4d891a544d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0f9457a1274c2e" /><Relationship Type="http://schemas.openxmlformats.org/officeDocument/2006/relationships/image" Target="/ppt/media/image2.jpeg" Id="R4fa85abff29645b7" /><Relationship Type="http://schemas.openxmlformats.org/officeDocument/2006/relationships/image" Target="/ppt/media/image3.jpeg" Id="Ra12697f894f34a97" /><Relationship Type="http://schemas.openxmlformats.org/officeDocument/2006/relationships/notesSlide" Target="/ppt/notesSlides/notesSlide2.xml" Id="R8674f145399141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fa67f478c44801" /><Relationship Type="http://schemas.openxmlformats.org/officeDocument/2006/relationships/image" Target="/ppt/media/image4.jpeg" Id="Re488705581af4b8d" /><Relationship Type="http://schemas.openxmlformats.org/officeDocument/2006/relationships/notesSlide" Target="/ppt/notesSlides/notesSlide3.xml" Id="Rec191b9b42da42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8d180989924004" /><Relationship Type="http://schemas.openxmlformats.org/officeDocument/2006/relationships/image" Target="/ppt/media/image5.jpeg" Id="R97813f195e7a44f1" /><Relationship Type="http://schemas.openxmlformats.org/officeDocument/2006/relationships/notesSlide" Target="/ppt/notesSlides/notesSlide4.xml" Id="R05fdac2942e94d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4b70fe6c154cbf" /><Relationship Type="http://schemas.openxmlformats.org/officeDocument/2006/relationships/notesSlide" Target="/ppt/notesSlides/notesSlide5.xml" Id="R9ae688490d174f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0067743d1d44f0" /><Relationship Type="http://schemas.openxmlformats.org/officeDocument/2006/relationships/notesSlide" Target="/ppt/notesSlides/notesSlide6.xml" Id="R801f7508a3c54b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2d08561c744e7f" /><Relationship Type="http://schemas.openxmlformats.org/officeDocument/2006/relationships/image" Target="/ppt/media/image6.jpeg" Id="R7311171ac07048fc" /><Relationship Type="http://schemas.openxmlformats.org/officeDocument/2006/relationships/notesSlide" Target="/ppt/notesSlides/notesSlide7.xml" Id="R56d8fc38553048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0ece7481d641a7" /><Relationship Type="http://schemas.openxmlformats.org/officeDocument/2006/relationships/image" Target="/ppt/media/image7.jpeg" Id="R331dd96415264dd1" /><Relationship Type="http://schemas.openxmlformats.org/officeDocument/2006/relationships/image" Target="/ppt/media/image8.jpeg" Id="Rcc4ff88bcf3740e3" /><Relationship Type="http://schemas.openxmlformats.org/officeDocument/2006/relationships/notesSlide" Target="/ppt/notesSlides/notesSlide8.xml" Id="R858da07785614f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17278a9e114b2d" /><Relationship Type="http://schemas.openxmlformats.org/officeDocument/2006/relationships/notesSlide" Target="/ppt/notesSlides/notesSlide9.xml" Id="R2aff74ba112a41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38e6c7515644a4" /><Relationship Type="http://schemas.openxmlformats.org/officeDocument/2006/relationships/notesSlide" Target="/ppt/notesSlides/notesSlide10.xml" Id="Ra0e6cd439c2240ac"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81FBB0E8-94F1-4F72-AA4B-4515C1E1199C}"/>
              </a:ext>
            </a:extLst>
          </p:cNvPr>
          <p:cNvSpPr>
            <a:spLocks xmlns:a="http://schemas.openxmlformats.org/drawingml/2006/main" noGrp="1"/>
          </p:cNvSpPr>
          <p:nvPr/>
        </p:nvSpPr>
        <p:spPr>
          <a:xfrm xmlns:a="http://schemas.openxmlformats.org/drawingml/2006/main">
            <a:off x="685800" y="5143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200" b="1">
                <a:solidFill>
                  <a:srgbClr val="C56A27"/>
                </a:solidFill>
                <a:latin typeface="Aptos"/>
                <a:ea typeface="Aptos"/>
                <a:cs typeface="Aptos"/>
              </a:defRPr>
            </a:pPr>
            <a:r>
              <a:rPr sz="1200" b="1">
                <a:solidFill>
                  <a:srgbClr val="C56A27"/>
                </a:solidFill>
                <a:latin typeface="Aptos"/>
                <a:ea typeface="Aptos"/>
                <a:cs typeface="Aptos"/>
              </a:rPr>
              <a:t>DATASCI 209 — FINAL PROJECT</a:t>
            </a:r>
          </a:p>
        </p:txBody>
      </p:sp>
      <p:sp>
        <p:nvSpPr>
          <p:cNvPr id="2" name="Rectangle 1">
            <a:extLst xmlns:a="http://schemas.openxmlformats.org/drawingml/2006/main">
              <a:ext uri="{FF2B5EF4-FFF2-40B4-BE49-F238E27FC236}">
                <a16:creationId xmlns:a16="http://schemas.microsoft.com/office/drawing/2014/main" id="{03A13E7E-A664-42F5-B439-66954E56EB34}"/>
              </a:ext>
            </a:extLst>
          </p:cNvPr>
          <p:cNvSpPr>
            <a:spLocks xmlns:a="http://schemas.openxmlformats.org/drawingml/2006/main" noGrp="1"/>
          </p:cNvSpPr>
          <p:nvPr/>
        </p:nvSpPr>
        <p:spPr>
          <a:xfrm xmlns:a="http://schemas.openxmlformats.org/drawingml/2006/main">
            <a:off x="685800" y="1143000"/>
            <a:ext cx="5048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2000"/>
              </a:lnSpc>
              <a:buNone/>
              <a:defRPr sz="4200" b="1">
                <a:solidFill>
                  <a:srgbClr val="0B1F3A"/>
                </a:solidFill>
                <a:latin typeface="Aptos"/>
                <a:ea typeface="Aptos"/>
                <a:cs typeface="Aptos"/>
              </a:defRPr>
            </a:pPr>
            <a:r>
              <a:rPr sz="4200" b="1">
                <a:solidFill>
                  <a:srgbClr val="0B1F3A"/>
                </a:solidFill>
                <a:latin typeface="Aptos"/>
                <a:ea typeface="Aptos"/>
                <a:cs typeface="Aptos"/>
              </a:rPr>
              <a:t>Beyond Points Per Game</a:t>
            </a:r>
          </a:p>
        </p:txBody>
      </p:sp>
      <p:sp>
        <p:nvSpPr>
          <p:cNvPr id="3" name="Rectangle 2">
            <a:extLst xmlns:a="http://schemas.openxmlformats.org/drawingml/2006/main">
              <a:ext uri="{FF2B5EF4-FFF2-40B4-BE49-F238E27FC236}">
                <a16:creationId xmlns:a16="http://schemas.microsoft.com/office/drawing/2014/main" id="{9F415C85-3850-4A24-BFF7-93BF77C34B80}"/>
              </a:ext>
            </a:extLst>
          </p:cNvPr>
          <p:cNvSpPr>
            <a:spLocks xmlns:a="http://schemas.openxmlformats.org/drawingml/2006/main" noGrp="1"/>
          </p:cNvSpPr>
          <p:nvPr/>
        </p:nvSpPr>
        <p:spPr>
          <a:xfrm xmlns:a="http://schemas.openxmlformats.org/drawingml/2006/main">
            <a:off x="723900" y="25717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2025" b="0">
                <a:solidFill>
                  <a:srgbClr val="17324D"/>
                </a:solidFill>
                <a:latin typeface="Aptos"/>
                <a:ea typeface="Aptos"/>
                <a:cs typeface="Aptos"/>
              </a:defRPr>
            </a:pPr>
            <a:r>
              <a:rPr sz="2025" b="0">
                <a:solidFill>
                  <a:srgbClr val="17324D"/>
                </a:solidFill>
                <a:latin typeface="Aptos"/>
                <a:ea typeface="Aptos"/>
                <a:cs typeface="Aptos"/>
              </a:rPr>
              <a:t>A usability-driven player-role and roster explorer</a:t>
            </a:r>
          </a:p>
        </p:txBody>
      </p:sp>
      <p:sp>
        <p:nvSpPr>
          <p:cNvPr id="4" name="Rectangle 3">
            <a:extLst xmlns:a="http://schemas.openxmlformats.org/drawingml/2006/main">
              <a:ext uri="{FF2B5EF4-FFF2-40B4-BE49-F238E27FC236}">
                <a16:creationId xmlns:a16="http://schemas.microsoft.com/office/drawing/2014/main" id="{0FB4A86C-0DF7-4DDA-AA44-A212599BCF37}"/>
              </a:ext>
            </a:extLst>
          </p:cNvPr>
          <p:cNvSpPr>
            <a:spLocks xmlns:a="http://schemas.openxmlformats.org/drawingml/2006/main" noGrp="1"/>
          </p:cNvSpPr>
          <p:nvPr/>
        </p:nvSpPr>
        <p:spPr>
          <a:xfrm xmlns:a="http://schemas.openxmlformats.org/drawingml/2006/main">
            <a:off x="723900" y="3333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8000"/>
              </a:lnSpc>
              <a:buNone/>
              <a:defRPr sz="1425" b="0">
                <a:solidFill>
                  <a:srgbClr val="5B6472"/>
                </a:solidFill>
                <a:latin typeface="Aptos"/>
                <a:ea typeface="Aptos"/>
                <a:cs typeface="Aptos"/>
              </a:defRPr>
            </a:pPr>
            <a:r>
              <a:rPr sz="1425" b="0">
                <a:solidFill>
                  <a:srgbClr val="5B6472"/>
                </a:solidFill>
                <a:latin typeface="Aptos"/>
                <a:ea typeface="Aptos"/>
                <a:cs typeface="Aptos"/>
              </a:rPr>
              <a:t>Ryan Wenstrom and Kenny Dolgin</a:t>
            </a:r>
          </a:p>
          <a:p xmlns:a="http://schemas.openxmlformats.org/drawingml/2006/main">
            <a:pPr algn="l">
              <a:lnSpc>
                <a:spcPct val="118000"/>
              </a:lnSpc>
              <a:buNone/>
              <a:defRPr sz="1425" b="0">
                <a:solidFill>
                  <a:srgbClr val="5B6472"/>
                </a:solidFill>
                <a:latin typeface="Aptos"/>
                <a:ea typeface="Aptos"/>
                <a:cs typeface="Aptos"/>
              </a:defRPr>
            </a:pPr>
            <a:r>
              <a:rPr sz="1425" b="0">
                <a:solidFill>
                  <a:srgbClr val="5B6472"/>
                </a:solidFill>
                <a:latin typeface="Aptos"/>
                <a:ea typeface="Aptos"/>
                <a:cs typeface="Aptos"/>
              </a:rPr>
              <a:t>Final Project Presentation</a:t>
            </a:r>
          </a:p>
        </p:txBody>
      </p:sp>
      <p:sp>
        <p:nvSpPr>
          <p:cNvPr id="11" name="Rectangle 10">
            <a:extLst xmlns:a="http://schemas.openxmlformats.org/drawingml/2006/main">
              <a:ext uri="{FF2B5EF4-FFF2-40B4-BE49-F238E27FC236}">
                <a16:creationId xmlns:a16="http://schemas.microsoft.com/office/drawing/2014/main" id="{461E5CD8-C9EE-48A0-90CC-88EBFB5A403F}"/>
              </a:ext>
            </a:extLst>
          </p:cNvPr>
          <p:cNvSpPr>
            <a:spLocks xmlns:a="http://schemas.openxmlformats.org/drawingml/2006/main" noGrp="1"/>
          </p:cNvSpPr>
          <p:nvPr/>
        </p:nvSpPr>
        <p:spPr>
          <a:xfrm xmlns:a="http://schemas.openxmlformats.org/drawingml/2006/main">
            <a:off x="10858500" y="6115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1200" b="1">
                <a:solidFill>
                  <a:srgbClr val="94A3B8"/>
                </a:solidFill>
                <a:latin typeface="Aptos"/>
                <a:ea typeface="Aptos"/>
                <a:cs typeface="Aptos"/>
              </a:defRPr>
            </a:pPr>
            <a:r>
              <a:rPr sz="1200" b="1">
                <a:solidFill>
                  <a:srgbClr val="94A3B8"/>
                </a:solidFill>
                <a:latin typeface="Aptos"/>
                <a:ea typeface="Aptos"/>
                <a:cs typeface="Aptos"/>
              </a:rPr>
              <a:t>01</a:t>
            </a:r>
          </a:p>
        </p:txBody>
      </p:sp>
      <p:pic>
        <p:nvPicPr>
          <p:cNvPr id="20" name="Picture 17"/>
          <p:cNvPicPr>
            <a:picLocks xmlns:a="http://schemas.openxmlformats.org/drawingml/2006/main" noChangeAspect="1"/>
          </p:cNvPicPr>
          <p:nvPr/>
        </p:nvPicPr>
        <p:blipFill>
          <a:blip xmlns:r="http://schemas.openxmlformats.org/officeDocument/2006/relationships" xmlns:a="http://schemas.openxmlformats.org/drawingml/2006/main" r:embed="R24dd10d6952f426f"/>
          <a:stretch xmlns:a="http://schemas.openxmlformats.org/drawingml/2006/main"/>
        </p:blipFill>
        <p:spPr>
          <a:xfrm xmlns:a="http://schemas.openxmlformats.org/drawingml/2006/main">
            <a:off x="5734050" y="1814428"/>
            <a:ext cx="5398711" cy="3038642"/>
          </a:xfrm>
          <a:prstGeom xmlns:a="http://schemas.openxmlformats.org/drawingml/2006/main" prst="rect">
            <a:avLst/>
          </a:prstGeom>
        </p:spPr>
      </p:pic>
    </p:spTree>
    <p:extLst>
      <p:ext uri="{BB962C8B-B14F-4D97-AF65-F5344CB8AC3E}">
        <p14:creationId xmlns:p14="http://schemas.microsoft.com/office/powerpoint/2010/main" val="20996775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DA1D4643-06B4-5678-058B-B2EC508A82C9}"/>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WHAT CHANGED</a:t>
            </a:r>
          </a:p>
        </p:txBody>
      </p:sp>
      <p:sp>
        <p:nvSpPr>
          <p:cNvPr id="2" name="Rectangle 1">
            <a:extLst xmlns:a="http://schemas.openxmlformats.org/drawingml/2006/main">
              <a:ext uri="{FF2B5EF4-FFF2-40B4-BE49-F238E27FC236}">
                <a16:creationId xmlns:a16="http://schemas.microsoft.com/office/drawing/2014/main" id="{67F62D33-B5DA-DFDA-1AB4-41054E858AAE}"/>
              </a:ext>
            </a:extLst>
          </p:cNvPr>
          <p:cNvSpPr>
            <a:spLocks xmlns:a="http://schemas.openxmlformats.org/drawingml/2006/main" noGrp="1"/>
          </p:cNvSpPr>
          <p:nvPr/>
        </p:nvSpPr>
        <p:spPr>
          <a:xfrm xmlns:a="http://schemas.openxmlformats.org/drawingml/2006/main">
            <a:off x="609599" y="552450"/>
            <a:ext cx="1128503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nSpc>
                <a:spcPct val="96000"/>
              </a:lnSpc>
              <a:buNone/>
              <a:defRPr sz="2850" b="1">
                <a:solidFill>
                  <a:srgbClr val="0B1F3A"/>
                </a:solidFill>
                <a:latin typeface="Aptos"/>
                <a:ea typeface="Aptos"/>
                <a:cs typeface="Aptos"/>
              </a:defRPr>
            </a:pPr>
            <a:r>
              <a:rPr sz="2700" b="1">
                <a:solidFill>
                  <a:srgbClr val="0B1F3A"/>
                </a:solidFill>
                <a:latin typeface="Aptos"/>
                <a:ea typeface="Aptos"/>
                <a:cs typeface="Aptos"/>
              </a:rPr>
              <a:t>Since the midterm, the project became a guided workflow</a:t>
            </a:r>
          </a:p>
        </p:txBody>
      </p:sp>
      <p:sp>
        <p:nvSpPr>
          <p:cNvPr id="3" name="Straight Connector 2">
            <a:extLst xmlns:a="http://schemas.openxmlformats.org/drawingml/2006/main">
              <a:ext uri="{FF2B5EF4-FFF2-40B4-BE49-F238E27FC236}">
                <a16:creationId xmlns:a16="http://schemas.microsoft.com/office/drawing/2014/main" id="{5DA6222D-FE73-439E-037F-8427DA2727AC}"/>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78DA7390-1B45-C26F-889B-4C4204680C12}"/>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02</a:t>
            </a:r>
          </a:p>
        </p:txBody>
      </p:sp>
      <p:sp>
        <p:nvSpPr>
          <p:cNvPr id="9" name="Rectangle: Rounded Corners 8">
            <a:extLst xmlns:a="http://schemas.openxmlformats.org/drawingml/2006/main">
              <a:ext uri="{FF2B5EF4-FFF2-40B4-BE49-F238E27FC236}">
                <a16:creationId xmlns:a16="http://schemas.microsoft.com/office/drawing/2014/main" id="{75898E8B-26AC-8810-6EAC-250EF889FF59}"/>
              </a:ext>
            </a:extLst>
          </p:cNvPr>
          <p:cNvSpPr>
            <a:spLocks xmlns:a="http://schemas.openxmlformats.org/drawingml/2006/main" noGrp="1"/>
          </p:cNvSpPr>
          <p:nvPr/>
        </p:nvSpPr>
        <p:spPr>
          <a:xfrm xmlns:a="http://schemas.openxmlformats.org/drawingml/2006/main">
            <a:off x="609600" y="4752975"/>
            <a:ext cx="4600575" cy="15811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8E0E8"/>
            </a:solidFill>
            <a:prstDash val="solid"/>
          </a:ln>
          <a:effectLst xmlns:a="http://schemas.openxmlformats.org/drawingml/2006/main">
            <a:outerShdw blurRad="50800" dist="38100" dir="2700000" algn="tl" rotWithShape="0">
              <a:prstClr val="black">
                <a:alpha val="40000"/>
              </a:prstClr>
            </a:outerShdw>
          </a:effectLst>
        </p:spPr>
        <p:txBody>
          <a:bodyPr xmlns:a="http://schemas.openxmlformats.org/drawingml/2006/main"/>
          <a:lstStyle xmlns:a="http://schemas.openxmlformats.org/drawingml/2006/main"/>
          <a:p xmlns:a="http://schemas.openxmlformats.org/drawingml/2006/main"/>
        </p:txBody>
      </p:sp>
      <p:sp>
        <p:nvSpPr>
          <p:cNvPr id="19" name="Rectangle 18">
            <a:extLst xmlns:a="http://schemas.openxmlformats.org/drawingml/2006/main">
              <a:ext uri="{FF2B5EF4-FFF2-40B4-BE49-F238E27FC236}">
                <a16:creationId xmlns:a16="http://schemas.microsoft.com/office/drawing/2014/main" id="{0BA71F5C-0244-C658-05CE-5EBF84EFF58A}"/>
              </a:ext>
            </a:extLst>
          </p:cNvPr>
          <p:cNvSpPr>
            <a:spLocks xmlns:a="http://schemas.openxmlformats.org/drawingml/2006/main" noGrp="1"/>
          </p:cNvSpPr>
          <p:nvPr/>
        </p:nvSpPr>
        <p:spPr>
          <a:xfrm xmlns:a="http://schemas.openxmlformats.org/drawingml/2006/main">
            <a:off x="609600" y="4805363"/>
            <a:ext cx="4600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ctr">
              <a:lnSpc>
                <a:spcPct val="108000"/>
              </a:lnSpc>
              <a:buNone/>
              <a:defRPr sz="1800" b="1">
                <a:solidFill>
                  <a:srgbClr val="C56A27"/>
                </a:solidFill>
                <a:latin typeface="Aptos"/>
                <a:ea typeface="Aptos"/>
                <a:cs typeface="Aptos"/>
              </a:defRPr>
            </a:pPr>
            <a:r>
              <a:rPr sz="1800" b="1">
                <a:solidFill>
                  <a:srgbClr val="C56A27"/>
                </a:solidFill>
                <a:latin typeface="Aptos"/>
                <a:ea typeface="Aptos"/>
                <a:cs typeface="Aptos"/>
              </a:rPr>
              <a:t>Midterm prototype</a:t>
            </a:r>
          </a:p>
        </p:txBody>
      </p:sp>
      <p:sp>
        <p:nvSpPr>
          <p:cNvPr id="20" name="Rectangle 19">
            <a:extLst xmlns:a="http://schemas.openxmlformats.org/drawingml/2006/main">
              <a:ext uri="{FF2B5EF4-FFF2-40B4-BE49-F238E27FC236}">
                <a16:creationId xmlns:a16="http://schemas.microsoft.com/office/drawing/2014/main" id="{6183A740-4B40-F1D5-D30D-DFEEC7B594CD}"/>
              </a:ext>
            </a:extLst>
          </p:cNvPr>
          <p:cNvSpPr>
            <a:spLocks xmlns:a="http://schemas.openxmlformats.org/drawingml/2006/main" noGrp="1"/>
          </p:cNvSpPr>
          <p:nvPr/>
        </p:nvSpPr>
        <p:spPr>
          <a:xfrm xmlns:a="http://schemas.openxmlformats.org/drawingml/2006/main">
            <a:off x="952500" y="5114925"/>
            <a:ext cx="39433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Evaluative “winning basketball” framing</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Hover details were easy to lose</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Player comparison was the only core workflow</a:t>
            </a:r>
          </a:p>
        </p:txBody>
      </p:sp>
      <p:sp>
        <p:nvSpPr>
          <p:cNvPr id="21" name="Arrow: Right 20">
            <a:extLst xmlns:a="http://schemas.openxmlformats.org/drawingml/2006/main">
              <a:ext uri="{FF2B5EF4-FFF2-40B4-BE49-F238E27FC236}">
                <a16:creationId xmlns:a16="http://schemas.microsoft.com/office/drawing/2014/main" id="{50A0605A-29B2-9EFB-3784-AF8A96F6E282}"/>
              </a:ext>
            </a:extLst>
          </p:cNvPr>
          <p:cNvSpPr>
            <a:spLocks xmlns:a="http://schemas.openxmlformats.org/drawingml/2006/main" noGrp="1"/>
          </p:cNvSpPr>
          <p:nvPr/>
        </p:nvSpPr>
        <p:spPr>
          <a:xfrm xmlns:a="http://schemas.openxmlformats.org/drawingml/2006/main">
            <a:off x="5622131" y="2607659"/>
            <a:ext cx="614839" cy="499396"/>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Rectangle: Rounded Corners 21">
            <a:extLst xmlns:a="http://schemas.openxmlformats.org/drawingml/2006/main">
              <a:ext uri="{FF2B5EF4-FFF2-40B4-BE49-F238E27FC236}">
                <a16:creationId xmlns:a16="http://schemas.microsoft.com/office/drawing/2014/main" id="{43F3E4D5-425F-243D-E483-C9D4D44AA3ED}"/>
              </a:ext>
            </a:extLst>
          </p:cNvPr>
          <p:cNvSpPr>
            <a:spLocks xmlns:a="http://schemas.openxmlformats.org/drawingml/2006/main" noGrp="1"/>
          </p:cNvSpPr>
          <p:nvPr/>
        </p:nvSpPr>
        <p:spPr>
          <a:xfrm xmlns:a="http://schemas.openxmlformats.org/drawingml/2006/main">
            <a:off x="6638925" y="4752975"/>
            <a:ext cx="4600575" cy="15811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8E0E8"/>
            </a:solidFill>
            <a:prstDash val="solid"/>
          </a:ln>
          <a:effectLst xmlns:a="http://schemas.openxmlformats.org/drawingml/2006/main">
            <a:outerShdw blurRad="50800" dist="38100" dir="2700000" algn="tl" rotWithShape="0">
              <a:prstClr val="black">
                <a:alpha val="40000"/>
              </a:prstClr>
            </a:outerShdw>
          </a:effectLst>
        </p:spPr>
        <p:txBody>
          <a:bodyPr xmlns:a="http://schemas.openxmlformats.org/drawingml/2006/main"/>
          <a:lstStyle xmlns:a="http://schemas.openxmlformats.org/drawingml/2006/main"/>
          <a:p xmlns:a="http://schemas.openxmlformats.org/drawingml/2006/main"/>
        </p:txBody>
      </p:sp>
      <p:sp>
        <p:nvSpPr>
          <p:cNvPr id="23" name="Rectangle 22">
            <a:extLst xmlns:a="http://schemas.openxmlformats.org/drawingml/2006/main">
              <a:ext uri="{FF2B5EF4-FFF2-40B4-BE49-F238E27FC236}">
                <a16:creationId xmlns:a16="http://schemas.microsoft.com/office/drawing/2014/main" id="{034D71D7-39A9-603E-4492-4AB1473EC680}"/>
              </a:ext>
            </a:extLst>
          </p:cNvPr>
          <p:cNvSpPr>
            <a:spLocks xmlns:a="http://schemas.openxmlformats.org/drawingml/2006/main" noGrp="1"/>
          </p:cNvSpPr>
          <p:nvPr/>
        </p:nvSpPr>
        <p:spPr>
          <a:xfrm xmlns:a="http://schemas.openxmlformats.org/drawingml/2006/main">
            <a:off x="6638925" y="4805363"/>
            <a:ext cx="4600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ctr">
              <a:lnSpc>
                <a:spcPct val="108000"/>
              </a:lnSpc>
              <a:buNone/>
              <a:defRPr sz="1800" b="1">
                <a:solidFill>
                  <a:srgbClr val="0B1F3A"/>
                </a:solidFill>
                <a:latin typeface="Aptos"/>
                <a:ea typeface="Aptos"/>
                <a:cs typeface="Aptos"/>
              </a:defRPr>
            </a:pPr>
            <a:r>
              <a:rPr b="1">
                <a:solidFill>
                  <a:srgbClr val="0B1F3A"/>
                </a:solidFill>
                <a:latin typeface="Aptos"/>
                <a:ea typeface="Aptos"/>
                <a:cs typeface="Aptos"/>
              </a:rPr>
              <a:t>Final dashboard</a:t>
            </a:r>
          </a:p>
        </p:txBody>
      </p:sp>
      <p:sp>
        <p:nvSpPr>
          <p:cNvPr id="24" name="Rectangle 23">
            <a:extLst xmlns:a="http://schemas.openxmlformats.org/drawingml/2006/main">
              <a:ext uri="{FF2B5EF4-FFF2-40B4-BE49-F238E27FC236}">
                <a16:creationId xmlns:a16="http://schemas.microsoft.com/office/drawing/2014/main" id="{B9D12BD3-EE5F-5A5D-CA72-9CFADCC0EF91}"/>
              </a:ext>
            </a:extLst>
          </p:cNvPr>
          <p:cNvSpPr>
            <a:spLocks xmlns:a="http://schemas.openxmlformats.org/drawingml/2006/main" noGrp="1"/>
          </p:cNvSpPr>
          <p:nvPr/>
        </p:nvSpPr>
        <p:spPr>
          <a:xfrm xmlns:a="http://schemas.openxmlformats.org/drawingml/2006/main">
            <a:off x="6981825" y="5114925"/>
            <a:ext cx="39433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Neutral comparison question and visible guardrails</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Persistent selections and exact values</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A second workflow for roster-level responsibility</a:t>
            </a:r>
          </a:p>
        </p:txBody>
      </p:sp>
      <p:pic>
        <p:nvPicPr>
          <p:cNvPr id="38" name="Picture 28"/>
          <p:cNvPicPr>
            <a:picLocks xmlns:a="http://schemas.openxmlformats.org/drawingml/2006/main" noChangeAspect="1"/>
          </p:cNvPicPr>
          <p:nvPr/>
        </p:nvPicPr>
        <p:blipFill>
          <a:blip xmlns:r="http://schemas.openxmlformats.org/officeDocument/2006/relationships" xmlns:a="http://schemas.openxmlformats.org/drawingml/2006/main" r:embed="R4fa85abff29645b7"/>
          <a:stretch xmlns:a="http://schemas.openxmlformats.org/drawingml/2006/main"/>
        </p:blipFill>
        <p:spPr>
          <a:xfrm xmlns:a="http://schemas.openxmlformats.org/drawingml/2006/main">
            <a:off x="609600" y="1562793"/>
            <a:ext cx="4600575" cy="2589415"/>
          </a:xfrm>
          <a:prstGeom xmlns:a="http://schemas.openxmlformats.org/drawingml/2006/main" prst="rect">
            <a:avLst/>
          </a:prstGeom>
          <a:ln xmlns:a="http://schemas.openxmlformats.org/drawingml/2006/main">
            <a:solidFill>
              <a:schemeClr val="tx1"/>
            </a:solidFill>
          </a:ln>
        </p:spPr>
      </p:pic>
      <p:pic>
        <p:nvPicPr>
          <p:cNvPr id="39" name="Picture 39"/>
          <p:cNvPicPr>
            <a:picLocks xmlns:a="http://schemas.openxmlformats.org/drawingml/2006/main" noChangeAspect="1"/>
          </p:cNvPicPr>
          <p:nvPr/>
        </p:nvPicPr>
        <p:blipFill>
          <a:blip xmlns:r="http://schemas.openxmlformats.org/officeDocument/2006/relationships" xmlns:a="http://schemas.openxmlformats.org/drawingml/2006/main" r:embed="Ra12697f894f34a97"/>
          <a:stretch xmlns:a="http://schemas.openxmlformats.org/drawingml/2006/main"/>
        </p:blipFill>
        <p:spPr>
          <a:xfrm xmlns:a="http://schemas.openxmlformats.org/drawingml/2006/main">
            <a:off x="6638925" y="1562793"/>
            <a:ext cx="4600575" cy="2589415"/>
          </a:xfrm>
          <a:prstGeom xmlns:a="http://schemas.openxmlformats.org/drawingml/2006/main" prst="rect">
            <a:avLst/>
          </a:prstGeom>
          <a:ln xmlns:a="http://schemas.openxmlformats.org/drawingml/2006/main">
            <a:solidFill>
              <a:schemeClr val="tx1"/>
            </a:solidFill>
          </a:ln>
        </p:spPr>
      </p:pic>
    </p:spTree>
    <p:extLst>
      <p:ext uri="{BB962C8B-B14F-4D97-AF65-F5344CB8AC3E}">
        <p14:creationId xmlns:p14="http://schemas.microsoft.com/office/powerpoint/2010/main" val="228413961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FEEF1127-BB16-43E6-A057-885450E8E9AB}"/>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LIVE DEMO</a:t>
            </a:r>
          </a:p>
        </p:txBody>
      </p:sp>
      <p:sp>
        <p:nvSpPr>
          <p:cNvPr id="2" name="Rectangle 1">
            <a:extLst xmlns:a="http://schemas.openxmlformats.org/drawingml/2006/main">
              <a:ext uri="{FF2B5EF4-FFF2-40B4-BE49-F238E27FC236}">
                <a16:creationId xmlns:a16="http://schemas.microsoft.com/office/drawing/2014/main" id="{78F0AD07-A9CB-4B74-98E4-6E613CB51751}"/>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Compare two seasons without ranking the players</a:t>
            </a:r>
          </a:p>
        </p:txBody>
      </p:sp>
      <p:sp>
        <p:nvSpPr>
          <p:cNvPr id="3" name="Straight Connector 2">
            <a:extLst xmlns:a="http://schemas.openxmlformats.org/drawingml/2006/main">
              <a:ext uri="{FF2B5EF4-FFF2-40B4-BE49-F238E27FC236}">
                <a16:creationId xmlns:a16="http://schemas.microsoft.com/office/drawing/2014/main" id="{14DF1111-B7EC-480F-87EE-9B3AF215BF19}"/>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F2959AB9-B735-4957-84EB-FC638620D0F5}"/>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03</a:t>
            </a:r>
          </a:p>
        </p:txBody>
      </p:sp>
      <p:sp>
        <p:nvSpPr>
          <p:cNvPr id="5" name="Rectangle 4">
            <a:extLst xmlns:a="http://schemas.openxmlformats.org/drawingml/2006/main">
              <a:ext uri="{FF2B5EF4-FFF2-40B4-BE49-F238E27FC236}">
                <a16:creationId xmlns:a16="http://schemas.microsoft.com/office/drawing/2014/main" id="{5A5510D4-599A-4C11-A4E9-BF6513BBC90A}"/>
              </a:ext>
            </a:extLst>
          </p:cNvPr>
          <p:cNvSpPr>
            <a:spLocks xmlns:a="http://schemas.openxmlformats.org/drawingml/2006/main" noGrp="1"/>
          </p:cNvSpPr>
          <p:nvPr/>
        </p:nvSpPr>
        <p:spPr>
          <a:xfrm xmlns:a="http://schemas.openxmlformats.org/drawingml/2006/main">
            <a:off x="609600" y="12763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800" b="1">
                <a:solidFill>
                  <a:srgbClr val="17324D"/>
                </a:solidFill>
                <a:latin typeface="Aptos"/>
                <a:ea typeface="Aptos"/>
                <a:cs typeface="Aptos"/>
              </a:defRPr>
            </a:pPr>
            <a:r>
              <a:rPr sz="1800" b="1">
                <a:solidFill>
                  <a:srgbClr val="17324D"/>
                </a:solidFill>
                <a:latin typeface="Aptos"/>
                <a:ea typeface="Aptos"/>
                <a:cs typeface="Aptos"/>
              </a:rPr>
              <a:t>Demo question</a:t>
            </a:r>
          </a:p>
          <a:p xmlns:a="http://schemas.openxmlformats.org/drawingml/2006/main">
            <a:pPr algn="l">
              <a:lnSpc>
                <a:spcPct val="108000"/>
              </a:lnSpc>
              <a:buNone/>
              <a:defRPr sz="1800" b="1">
                <a:solidFill>
                  <a:srgbClr val="17324D"/>
                </a:solidFill>
                <a:latin typeface="Aptos"/>
                <a:ea typeface="Aptos"/>
                <a:cs typeface="Aptos"/>
              </a:defRPr>
            </a:pPr>
            <a:r>
              <a:rPr sz="1800" b="1">
                <a:solidFill>
                  <a:srgbClr val="17324D"/>
                </a:solidFill>
                <a:latin typeface="Aptos"/>
                <a:ea typeface="Aptos"/>
                <a:cs typeface="Aptos"/>
              </a:rPr>
              <a:t>LeBron 2020 LAL vs. Harden 2025 LAC</a:t>
            </a:r>
          </a:p>
        </p:txBody>
      </p:sp>
      <p:sp>
        <p:nvSpPr>
          <p:cNvPr id="6" name="Rectangle 5">
            <a:extLst xmlns:a="http://schemas.openxmlformats.org/drawingml/2006/main">
              <a:ext uri="{FF2B5EF4-FFF2-40B4-BE49-F238E27FC236}">
                <a16:creationId xmlns:a16="http://schemas.microsoft.com/office/drawing/2014/main" id="{66A139E4-4CC7-4836-AAEC-EDEB79FF8D8B}"/>
              </a:ext>
            </a:extLst>
          </p:cNvPr>
          <p:cNvSpPr>
            <a:spLocks xmlns:a="http://schemas.openxmlformats.org/drawingml/2006/main" noGrp="1"/>
          </p:cNvSpPr>
          <p:nvPr/>
        </p:nvSpPr>
        <p:spPr>
          <a:xfrm xmlns:a="http://schemas.openxmlformats.org/drawingml/2006/main">
            <a:off x="723900" y="2324100"/>
            <a:ext cx="2476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8000"/>
              </a:lnSpc>
              <a:buNone/>
              <a:defRPr sz="1650" b="0">
                <a:solidFill>
                  <a:srgbClr val="111827"/>
                </a:solidFill>
                <a:latin typeface="Aptos"/>
                <a:ea typeface="Aptos"/>
                <a:cs typeface="Aptos"/>
              </a:defRPr>
            </a:pPr>
            <a:r>
              <a:rPr sz="1650" b="0">
                <a:solidFill>
                  <a:srgbClr val="111827"/>
                </a:solidFill>
                <a:latin typeface="Aptos"/>
                <a:ea typeface="Aptos"/>
                <a:cs typeface="Aptos"/>
              </a:rPr>
              <a:t>1. Select both seasons</a:t>
            </a:r>
          </a:p>
          <a:p xmlns:a="http://schemas.openxmlformats.org/drawingml/2006/main">
            <a:pPr algn="l">
              <a:lnSpc>
                <a:spcPct val="118000"/>
              </a:lnSpc>
              <a:buNone/>
              <a:defRPr sz="1650" b="0">
                <a:solidFill>
                  <a:srgbClr val="111827"/>
                </a:solidFill>
                <a:latin typeface="Aptos"/>
                <a:ea typeface="Aptos"/>
                <a:cs typeface="Aptos"/>
              </a:defRPr>
            </a:pPr>
            <a:r>
              <a:rPr sz="1650" b="0">
                <a:solidFill>
                  <a:srgbClr val="111827"/>
                </a:solidFill>
                <a:latin typeface="Aptos"/>
                <a:ea typeface="Aptos"/>
                <a:cs typeface="Aptos"/>
              </a:rPr>
              <a:t>2. Read role map + fingerprint</a:t>
            </a:r>
          </a:p>
          <a:p xmlns:a="http://schemas.openxmlformats.org/drawingml/2006/main">
            <a:pPr algn="l">
              <a:lnSpc>
                <a:spcPct val="118000"/>
              </a:lnSpc>
              <a:buNone/>
              <a:defRPr sz="1650" b="0">
                <a:solidFill>
                  <a:srgbClr val="111827"/>
                </a:solidFill>
                <a:latin typeface="Aptos"/>
                <a:ea typeface="Aptos"/>
                <a:cs typeface="Aptos"/>
              </a:defRPr>
            </a:pPr>
            <a:r>
              <a:rPr sz="1650" b="0">
                <a:solidFill>
                  <a:srgbClr val="111827"/>
                </a:solidFill>
                <a:latin typeface="Aptos"/>
                <a:ea typeface="Aptos"/>
                <a:cs typeface="Aptos"/>
              </a:rPr>
              <a:t>3. Inspect similar seasons</a:t>
            </a:r>
          </a:p>
          <a:p xmlns:a="http://schemas.openxmlformats.org/drawingml/2006/main">
            <a:pPr algn="l">
              <a:lnSpc>
                <a:spcPct val="118000"/>
              </a:lnSpc>
              <a:buNone/>
              <a:defRPr sz="1650" b="0">
                <a:solidFill>
                  <a:srgbClr val="111827"/>
                </a:solidFill>
                <a:latin typeface="Aptos"/>
                <a:ea typeface="Aptos"/>
                <a:cs typeface="Aptos"/>
              </a:defRPr>
            </a:pPr>
            <a:r>
              <a:rPr sz="1650" b="0">
                <a:solidFill>
                  <a:srgbClr val="111827"/>
                </a:solidFill>
                <a:latin typeface="Aptos"/>
                <a:ea typeface="Aptos"/>
                <a:cs typeface="Aptos"/>
              </a:rPr>
              <a:t>4. Keep winning as context</a:t>
            </a:r>
          </a:p>
        </p:txBody>
      </p:sp>
      <p:sp>
        <p:nvSpPr>
          <p:cNvPr id="7" name="Rectangle: Rounded Corners 6">
            <a:extLst xmlns:a="http://schemas.openxmlformats.org/drawingml/2006/main">
              <a:ext uri="{FF2B5EF4-FFF2-40B4-BE49-F238E27FC236}">
                <a16:creationId xmlns:a16="http://schemas.microsoft.com/office/drawing/2014/main" id="{58E06AD9-118C-4AE3-9041-640A5E7611D8}"/>
              </a:ext>
            </a:extLst>
          </p:cNvPr>
          <p:cNvSpPr>
            <a:spLocks xmlns:a="http://schemas.openxmlformats.org/drawingml/2006/main" noGrp="1"/>
          </p:cNvSpPr>
          <p:nvPr/>
        </p:nvSpPr>
        <p:spPr>
          <a:xfrm xmlns:a="http://schemas.openxmlformats.org/drawingml/2006/main">
            <a:off x="609600" y="4953000"/>
            <a:ext cx="2667000" cy="819150"/>
          </a:xfrm>
          <a:prstGeom xmlns:a="http://schemas.openxmlformats.org/drawingml/2006/main" prst="roundRect">
            <a:avLst>
              <a:gd name="adj" fmla="val 9302"/>
            </a:avLst>
          </a:prstGeom>
          <a:solidFill xmlns:a="http://schemas.openxmlformats.org/drawingml/2006/main">
            <a:srgbClr val="F7E6D8"/>
          </a:solidFill>
          <a:ln xmlns:a="http://schemas.openxmlformats.org/drawingml/2006/main" w="9525">
            <a:solidFill>
              <a:srgbClr val="E6C5AC"/>
            </a:solid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52259653-9943-45B9-BE86-3735BB18B51A}"/>
              </a:ext>
            </a:extLst>
          </p:cNvPr>
          <p:cNvSpPr>
            <a:spLocks xmlns:a="http://schemas.openxmlformats.org/drawingml/2006/main" noGrp="1"/>
          </p:cNvSpPr>
          <p:nvPr/>
        </p:nvSpPr>
        <p:spPr>
          <a:xfrm xmlns:a="http://schemas.openxmlformats.org/drawingml/2006/main">
            <a:off x="781050" y="5124450"/>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l">
              <a:lnSpc>
                <a:spcPct val="105000"/>
              </a:lnSpc>
              <a:buNone/>
              <a:defRPr sz="1500" b="1">
                <a:solidFill>
                  <a:srgbClr val="0B1F3A"/>
                </a:solidFill>
                <a:latin typeface="Aptos"/>
                <a:ea typeface="Aptos"/>
                <a:cs typeface="Aptos"/>
              </a:defRPr>
            </a:pPr>
            <a:r>
              <a:rPr sz="1500" b="1">
                <a:solidFill>
                  <a:srgbClr val="0B1F3A"/>
                </a:solidFill>
                <a:latin typeface="Aptos"/>
                <a:ea typeface="Aptos"/>
                <a:cs typeface="Aptos"/>
              </a:rPr>
              <a:t>Profile similarity describes shape—not player quality.</a:t>
            </a:r>
          </a:p>
        </p:txBody>
      </p:sp>
      <p:sp>
        <p:nvSpPr>
          <p:cNvPr id="10" name="Rectangle 9">
            <a:extLst xmlns:a="http://schemas.openxmlformats.org/drawingml/2006/main">
              <a:ext uri="{FF2B5EF4-FFF2-40B4-BE49-F238E27FC236}">
                <a16:creationId xmlns:a16="http://schemas.microsoft.com/office/drawing/2014/main" id="{2BF4E239-863A-4944-841E-CC3A6A19A2E2}"/>
              </a:ext>
            </a:extLst>
          </p:cNvPr>
          <p:cNvSpPr>
            <a:spLocks xmlns:a="http://schemas.openxmlformats.org/drawingml/2006/main" noGrp="1"/>
          </p:cNvSpPr>
          <p:nvPr/>
        </p:nvSpPr>
        <p:spPr>
          <a:xfrm xmlns:a="http://schemas.openxmlformats.org/drawingml/2006/main">
            <a:off x="3619500" y="1143000"/>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ROLE MAP — FALLBACK IF THE LIVE SITE STALLS</a:t>
            </a:r>
          </a:p>
        </p:txBody>
      </p:sp>
      <p:sp>
        <p:nvSpPr>
          <p:cNvPr id="12" name="Rectangle 11">
            <a:extLst xmlns:a="http://schemas.openxmlformats.org/drawingml/2006/main">
              <a:ext uri="{FF2B5EF4-FFF2-40B4-BE49-F238E27FC236}">
                <a16:creationId xmlns:a16="http://schemas.microsoft.com/office/drawing/2014/main" id="{E5A5D2A7-FA0C-461C-8E2F-086246A81972}"/>
              </a:ext>
            </a:extLst>
          </p:cNvPr>
          <p:cNvSpPr>
            <a:spLocks xmlns:a="http://schemas.openxmlformats.org/drawingml/2006/main" noGrp="1"/>
          </p:cNvSpPr>
          <p:nvPr/>
        </p:nvSpPr>
        <p:spPr>
          <a:xfrm xmlns:a="http://schemas.openxmlformats.org/drawingml/2006/main">
            <a:off x="609600" y="40005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ctr">
              <a:lnSpc>
                <a:spcPct val="105000"/>
              </a:lnSpc>
              <a:buNone/>
              <a:defRPr sz="938" b="0">
                <a:solidFill>
                  <a:srgbClr val="5B6472"/>
                </a:solidFill>
                <a:latin typeface="Aptos"/>
                <a:ea typeface="Aptos"/>
                <a:cs typeface="Aptos"/>
              </a:defRPr>
            </a:pPr>
            <a:r>
              <a:rPr sz="938" b="0">
                <a:solidFill>
                  <a:srgbClr val="5B6472"/>
                </a:solidFill>
                <a:latin typeface="Aptos"/>
                <a:ea typeface="Aptos"/>
                <a:cs typeface="Aptos"/>
              </a:rPr>
              <a:t>Switch to the live dashboard here.</a:t>
            </a:r>
          </a:p>
        </p:txBody>
      </p:sp>
      <p:pic>
        <p:nvPicPr>
          <p:cNvPr id="25" name="Picture 14"/>
          <p:cNvPicPr>
            <a:picLocks xmlns:a="http://schemas.openxmlformats.org/drawingml/2006/main" noChangeAspect="1"/>
          </p:cNvPicPr>
          <p:nvPr/>
        </p:nvPicPr>
        <p:blipFill>
          <a:blip xmlns:r="http://schemas.openxmlformats.org/officeDocument/2006/relationships" xmlns:a="http://schemas.openxmlformats.org/drawingml/2006/main" r:embed="Re488705581af4b8d"/>
          <a:srcRect xmlns:a="http://schemas.openxmlformats.org/drawingml/2006/main" l="90" t="0" r="90" b="0"/>
          <a:stretch xmlns:a="http://schemas.openxmlformats.org/drawingml/2006/main">
            <a:fillRect l="0" t="0" r="0" b="0"/>
          </a:stretch>
        </p:blipFill>
        <p:spPr>
          <a:xfrm xmlns:a="http://schemas.openxmlformats.org/drawingml/2006/main">
            <a:off x="3619500" y="1524000"/>
            <a:ext cx="7905750" cy="4457700"/>
          </a:xfrm>
          <a:prstGeom xmlns:a="http://schemas.openxmlformats.org/drawingml/2006/main" prst="rect">
            <a:avLst/>
          </a:prstGeom>
          <a:ln xmlns:a="http://schemas.openxmlformats.org/drawingml/2006/main">
            <a:solidFill>
              <a:schemeClr val="tx1"/>
            </a:solidFill>
          </a:ln>
          <a:effectLst xmlns:a="http://schemas.openxmlformats.org/drawingml/2006/main">
            <a:outerShdw blurRad="50800" dist="38100" dir="2700000" algn="tl" rotWithShape="0">
              <a:prstClr val="black">
                <a:alpha val="40000"/>
              </a:prstClr>
            </a:outerShdw>
          </a:effectLst>
        </p:spPr>
      </p:pic>
    </p:spTree>
    <p:extLst>
      <p:ext uri="{BB962C8B-B14F-4D97-AF65-F5344CB8AC3E}">
        <p14:creationId xmlns:p14="http://schemas.microsoft.com/office/powerpoint/2010/main" val="121067658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DAED8B83-6845-44B0-BB09-DB8C956DDADE}"/>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LIVE DEMO</a:t>
            </a:r>
          </a:p>
        </p:txBody>
      </p:sp>
      <p:sp>
        <p:nvSpPr>
          <p:cNvPr id="2" name="Rectangle 1">
            <a:extLst xmlns:a="http://schemas.openxmlformats.org/drawingml/2006/main">
              <a:ext uri="{FF2B5EF4-FFF2-40B4-BE49-F238E27FC236}">
                <a16:creationId xmlns:a16="http://schemas.microsoft.com/office/drawing/2014/main" id="{2F879407-4472-459E-BF52-0B9EB2FED0BC}"/>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Inspect how one team shares responsibility</a:t>
            </a:r>
          </a:p>
        </p:txBody>
      </p:sp>
      <p:sp>
        <p:nvSpPr>
          <p:cNvPr id="3" name="Straight Connector 2">
            <a:extLst xmlns:a="http://schemas.openxmlformats.org/drawingml/2006/main">
              <a:ext uri="{FF2B5EF4-FFF2-40B4-BE49-F238E27FC236}">
                <a16:creationId xmlns:a16="http://schemas.microsoft.com/office/drawing/2014/main" id="{080412A8-F600-4FEC-8C7C-FFFFE4260719}"/>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A614007C-8D96-4336-9541-83EA778F9867}"/>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04</a:t>
            </a:r>
          </a:p>
        </p:txBody>
      </p:sp>
      <p:sp>
        <p:nvSpPr>
          <p:cNvPr id="14" name="Rectangle: Rounded Corners 13">
            <a:extLst xmlns:a="http://schemas.openxmlformats.org/drawingml/2006/main">
              <a:ext uri="{FF2B5EF4-FFF2-40B4-BE49-F238E27FC236}">
                <a16:creationId xmlns:a16="http://schemas.microsoft.com/office/drawing/2014/main" id="{49D0992A-42A8-4EE8-9DB0-ABD997030212}"/>
              </a:ext>
            </a:extLst>
          </p:cNvPr>
          <p:cNvSpPr>
            <a:spLocks xmlns:a="http://schemas.openxmlformats.org/drawingml/2006/main" noGrp="1"/>
          </p:cNvSpPr>
          <p:nvPr/>
        </p:nvSpPr>
        <p:spPr>
          <a:xfrm xmlns:a="http://schemas.openxmlformats.org/drawingml/2006/main">
            <a:off x="781050" y="4667250"/>
            <a:ext cx="2324100" cy="952500"/>
          </a:xfrm>
          <a:prstGeom xmlns:a="http://schemas.openxmlformats.org/drawingml/2006/main" prst="roundRect">
            <a:avLst>
              <a:gd name="adj" fmla="val 6897"/>
            </a:avLst>
          </a:prstGeom>
          <a:solidFill xmlns:a="http://schemas.openxmlformats.org/drawingml/2006/main">
            <a:srgbClr val="F7E6D8"/>
          </a:solidFill>
          <a:ln xmlns:a="http://schemas.openxmlformats.org/drawingml/2006/main" w="9525">
            <a:solidFill>
              <a:srgbClr val="E6C5AC"/>
            </a:solidFill>
            <a:prstDash val="solid"/>
          </a:ln>
        </p:spPr>
        <p:txBody>
          <a:bodyPr xmlns:a="http://schemas.openxmlformats.org/drawingml/2006/main"/>
          <a:lstStyle xmlns:a="http://schemas.openxmlformats.org/drawingml/2006/main"/>
          <a:p xmlns:a="http://schemas.openxmlformats.org/drawingml/2006/main">
            <a:r>
              <a:rPr sz="2000"/>
              <a:t>Top 10 by minutes = rotation proxy, not official depth chart.</a:t>
            </a:r>
          </a:p>
        </p:txBody>
      </p:sp>
      <p:sp>
        <p:nvSpPr>
          <p:cNvPr id="15" name="Rectangle 14">
            <a:extLst xmlns:a="http://schemas.openxmlformats.org/drawingml/2006/main">
              <a:ext uri="{FF2B5EF4-FFF2-40B4-BE49-F238E27FC236}">
                <a16:creationId xmlns:a16="http://schemas.microsoft.com/office/drawing/2014/main" id="{3866AA17-4332-4179-A25E-ECA8F8F0C430}"/>
              </a:ext>
            </a:extLst>
          </p:cNvPr>
          <p:cNvSpPr>
            <a:spLocks xmlns:a="http://schemas.openxmlformats.org/drawingml/2006/main" noGrp="1"/>
          </p:cNvSpPr>
          <p:nvPr/>
        </p:nvSpPr>
        <p:spPr>
          <a:xfrm xmlns:a="http://schemas.openxmlformats.org/drawingml/2006/main">
            <a:off x="609600" y="4476750"/>
            <a:ext cx="2667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nSpc>
                <a:spcPct val="105000"/>
              </a:lnSpc>
              <a:buNone/>
              <a:defRPr sz="1500" b="1">
                <a:solidFill>
                  <a:srgbClr val="0B1F3A"/>
                </a:solidFill>
                <a:latin typeface="Aptos"/>
                <a:ea typeface="Aptos"/>
                <a:cs typeface="Aptos"/>
              </a:defRPr>
            </a:pPr>
          </a:p>
        </p:txBody>
      </p:sp>
      <p:sp>
        <p:nvSpPr>
          <p:cNvPr id="21" name="Rectangle 20">
            <a:extLst xmlns:a="http://schemas.openxmlformats.org/drawingml/2006/main">
              <a:ext uri="{FF2B5EF4-FFF2-40B4-BE49-F238E27FC236}">
                <a16:creationId xmlns:a16="http://schemas.microsoft.com/office/drawing/2014/main" id="{36CEA211-6BF6-30DF-9BAB-B29D3D233AD0}"/>
              </a:ext>
            </a:extLst>
          </p:cNvPr>
          <p:cNvSpPr>
            <a:spLocks xmlns:a="http://schemas.openxmlformats.org/drawingml/2006/main" noGrp="1"/>
          </p:cNvSpPr>
          <p:nvPr/>
        </p:nvSpPr>
        <p:spPr>
          <a:xfrm xmlns:a="http://schemas.openxmlformats.org/drawingml/2006/main">
            <a:off x="609600" y="1905000"/>
            <a:ext cx="2667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1. Choose Oklahoma City</a:t>
            </a:r>
          </a:p>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2. Select a player</a:t>
            </a:r>
          </a:p>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3. Open Coverage</a:t>
            </a:r>
          </a:p>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4. Add Boston + swap teams</a:t>
            </a:r>
          </a:p>
        </p:txBody>
      </p:sp>
      <p:sp>
        <p:nvSpPr>
          <p:cNvPr id="24" name="Rectangle 23">
            <a:extLst xmlns:a="http://schemas.openxmlformats.org/drawingml/2006/main">
              <a:ext uri="{FF2B5EF4-FFF2-40B4-BE49-F238E27FC236}">
                <a16:creationId xmlns:a16="http://schemas.microsoft.com/office/drawing/2014/main" id="{278C5A67-086A-89A1-8B23-CDBF2B534C1C}"/>
              </a:ext>
            </a:extLst>
          </p:cNvPr>
          <p:cNvSpPr>
            <a:spLocks xmlns:a="http://schemas.openxmlformats.org/drawingml/2006/main" noGrp="1"/>
          </p:cNvSpPr>
          <p:nvPr/>
        </p:nvSpPr>
        <p:spPr>
          <a:xfrm xmlns:a="http://schemas.openxmlformats.org/drawingml/2006/main">
            <a:off x="609600" y="138112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Demo path</a:t>
            </a:r>
          </a:p>
        </p:txBody>
      </p:sp>
      <p:sp>
        <p:nvSpPr>
          <p:cNvPr id="29" name="Rectangle 28">
            <a:extLst xmlns:a="http://schemas.openxmlformats.org/drawingml/2006/main">
              <a:ext uri="{FF2B5EF4-FFF2-40B4-BE49-F238E27FC236}">
                <a16:creationId xmlns:a16="http://schemas.microsoft.com/office/drawing/2014/main" id="{CF0F89BF-8144-04B9-C526-A25D00DBB137}"/>
              </a:ext>
            </a:extLst>
          </p:cNvPr>
          <p:cNvSpPr>
            <a:spLocks xmlns:a="http://schemas.openxmlformats.org/drawingml/2006/main" noGrp="1"/>
          </p:cNvSpPr>
          <p:nvPr/>
        </p:nvSpPr>
        <p:spPr>
          <a:xfrm xmlns:a="http://schemas.openxmlformats.org/drawingml/2006/main">
            <a:off x="3619500" y="1143000"/>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COVERAGE + BENCHMARK AFTER ADDING BOSTON</a:t>
            </a:r>
          </a:p>
        </p:txBody>
      </p:sp>
      <p:pic>
        <p:nvPicPr>
          <p:cNvPr id="42" name="Picture 32"/>
          <p:cNvPicPr>
            <a:picLocks xmlns:a="http://schemas.openxmlformats.org/drawingml/2006/main" noChangeAspect="1"/>
          </p:cNvPicPr>
          <p:nvPr/>
        </p:nvPicPr>
        <p:blipFill>
          <a:blip xmlns:r="http://schemas.openxmlformats.org/officeDocument/2006/relationships" xmlns:a="http://schemas.openxmlformats.org/drawingml/2006/main" r:embed="R97813f195e7a44f1"/>
          <a:srcRect xmlns:a="http://schemas.openxmlformats.org/drawingml/2006/main" l="90" t="0" r="90" b="0"/>
          <a:stretch xmlns:a="http://schemas.openxmlformats.org/drawingml/2006/main">
            <a:fillRect l="0" t="0" r="0" b="0"/>
          </a:stretch>
        </p:blipFill>
        <p:spPr>
          <a:xfrm xmlns:a="http://schemas.openxmlformats.org/drawingml/2006/main">
            <a:off x="3619500" y="1524000"/>
            <a:ext cx="7905750" cy="4457700"/>
          </a:xfrm>
          <a:prstGeom xmlns:a="http://schemas.openxmlformats.org/drawingml/2006/main" prst="rect">
            <a:avLst/>
          </a:prstGeom>
          <a:ln xmlns:a="http://schemas.openxmlformats.org/drawingml/2006/main">
            <a:solidFill>
              <a:schemeClr val="tx1"/>
            </a:solidFill>
          </a:ln>
        </p:spPr>
      </p:pic>
    </p:spTree>
    <p:extLst>
      <p:ext uri="{BB962C8B-B14F-4D97-AF65-F5344CB8AC3E}">
        <p14:creationId xmlns:p14="http://schemas.microsoft.com/office/powerpoint/2010/main" val="162204481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4ABCC011-B0F4-4E9D-922E-62E302BBF1E4}"/>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USABILITY STUDY</a:t>
            </a:r>
          </a:p>
        </p:txBody>
      </p:sp>
      <p:sp>
        <p:nvSpPr>
          <p:cNvPr id="2" name="Rectangle 1">
            <a:extLst xmlns:a="http://schemas.openxmlformats.org/drawingml/2006/main">
              <a:ext uri="{FF2B5EF4-FFF2-40B4-BE49-F238E27FC236}">
                <a16:creationId xmlns:a16="http://schemas.microsoft.com/office/drawing/2014/main" id="{8F2810EF-1F7B-412D-8531-EC67B9727A46}"/>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Six participants tested comprehension, interaction, and trust</a:t>
            </a:r>
          </a:p>
        </p:txBody>
      </p:sp>
      <p:sp>
        <p:nvSpPr>
          <p:cNvPr id="3" name="Straight Connector 2">
            <a:extLst xmlns:a="http://schemas.openxmlformats.org/drawingml/2006/main">
              <a:ext uri="{FF2B5EF4-FFF2-40B4-BE49-F238E27FC236}">
                <a16:creationId xmlns:a16="http://schemas.microsoft.com/office/drawing/2014/main" id="{BF3C27AA-6698-4E48-97EB-47FB9D3C1860}"/>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2D615AD4-8E3F-4A62-87E3-7F68DB3FC1B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05</a:t>
            </a:r>
          </a:p>
        </p:txBody>
      </p:sp>
      <p:sp>
        <p:nvSpPr>
          <p:cNvPr id="5" name="Rectangle: Rounded Corners 4">
            <a:extLst xmlns:a="http://schemas.openxmlformats.org/drawingml/2006/main">
              <a:ext uri="{FF2B5EF4-FFF2-40B4-BE49-F238E27FC236}">
                <a16:creationId xmlns:a16="http://schemas.microsoft.com/office/drawing/2014/main" id="{0B2399A4-392B-4234-BA88-A23119104F4A}"/>
              </a:ext>
            </a:extLst>
          </p:cNvPr>
          <p:cNvSpPr>
            <a:spLocks xmlns:a="http://schemas.openxmlformats.org/drawingml/2006/main" noGrp="1"/>
          </p:cNvSpPr>
          <p:nvPr/>
        </p:nvSpPr>
        <p:spPr>
          <a:xfrm xmlns:a="http://schemas.openxmlformats.org/drawingml/2006/main">
            <a:off x="685800" y="1447800"/>
            <a:ext cx="3162300" cy="3314700"/>
          </a:xfrm>
          <a:prstGeom xmlns:a="http://schemas.openxmlformats.org/drawingml/2006/main" prst="roundRect">
            <a:avLst>
              <a:gd name="adj" fmla="val 241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5D41591E-51E9-440C-B643-810EFCC0B5BC}"/>
              </a:ext>
            </a:extLst>
          </p:cNvPr>
          <p:cNvSpPr>
            <a:spLocks xmlns:a="http://schemas.openxmlformats.org/drawingml/2006/main" noGrp="1"/>
          </p:cNvSpPr>
          <p:nvPr/>
        </p:nvSpPr>
        <p:spPr>
          <a:xfrm xmlns:a="http://schemas.openxmlformats.org/drawingml/2006/main">
            <a:off x="895350" y="1695450"/>
            <a:ext cx="2743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0000"/>
              </a:lnSpc>
              <a:buNone/>
              <a:defRPr sz="1650" b="1">
                <a:solidFill>
                  <a:srgbClr val="0B1F3A"/>
                </a:solidFill>
                <a:latin typeface="Aptos"/>
                <a:ea typeface="Aptos"/>
                <a:cs typeface="Aptos"/>
              </a:defRPr>
            </a:pPr>
            <a:r>
              <a:rPr sz="1650" b="1">
                <a:solidFill>
                  <a:srgbClr val="0B1F3A"/>
                </a:solidFill>
                <a:latin typeface="Aptos"/>
                <a:ea typeface="Aptos"/>
                <a:cs typeface="Aptos"/>
              </a:rPr>
              <a:t>One study round</a:t>
            </a:r>
          </a:p>
        </p:txBody>
      </p:sp>
      <p:sp>
        <p:nvSpPr>
          <p:cNvPr id="7" name="Rectangle 6">
            <a:extLst xmlns:a="http://schemas.openxmlformats.org/drawingml/2006/main">
              <a:ext uri="{FF2B5EF4-FFF2-40B4-BE49-F238E27FC236}">
                <a16:creationId xmlns:a16="http://schemas.microsoft.com/office/drawing/2014/main" id="{4F21CBEC-F651-4E74-979B-E8204936F910}"/>
              </a:ext>
            </a:extLst>
          </p:cNvPr>
          <p:cNvSpPr>
            <a:spLocks xmlns:a="http://schemas.openxmlformats.org/drawingml/2006/main" noGrp="1"/>
          </p:cNvSpPr>
          <p:nvPr/>
        </p:nvSpPr>
        <p:spPr>
          <a:xfrm xmlns:a="http://schemas.openxmlformats.org/drawingml/2006/main">
            <a:off x="914400" y="2400300"/>
            <a:ext cx="2667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- 6 moderated sessions</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- 3 conducted by Ryan</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- 3 conducted by Kenny</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About 30 minutes each</a:t>
            </a:r>
          </a:p>
        </p:txBody>
      </p:sp>
      <p:sp>
        <p:nvSpPr>
          <p:cNvPr id="8" name="Rectangle: Rounded Corners 7">
            <a:extLst xmlns:a="http://schemas.openxmlformats.org/drawingml/2006/main">
              <a:ext uri="{FF2B5EF4-FFF2-40B4-BE49-F238E27FC236}">
                <a16:creationId xmlns:a16="http://schemas.microsoft.com/office/drawing/2014/main" id="{B76B69C1-B68B-4FCF-AFFF-D6B08EA49BF9}"/>
              </a:ext>
            </a:extLst>
          </p:cNvPr>
          <p:cNvSpPr>
            <a:spLocks xmlns:a="http://schemas.openxmlformats.org/drawingml/2006/main" noGrp="1"/>
          </p:cNvSpPr>
          <p:nvPr/>
        </p:nvSpPr>
        <p:spPr>
          <a:xfrm xmlns:a="http://schemas.openxmlformats.org/drawingml/2006/main">
            <a:off x="4324350" y="1447800"/>
            <a:ext cx="3162300" cy="3314700"/>
          </a:xfrm>
          <a:prstGeom xmlns:a="http://schemas.openxmlformats.org/drawingml/2006/main" prst="roundRect">
            <a:avLst>
              <a:gd name="adj" fmla="val 241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90409F54-0671-4779-B4FB-362583DE50A5}"/>
              </a:ext>
            </a:extLst>
          </p:cNvPr>
          <p:cNvSpPr>
            <a:spLocks xmlns:a="http://schemas.openxmlformats.org/drawingml/2006/main" noGrp="1"/>
          </p:cNvSpPr>
          <p:nvPr/>
        </p:nvSpPr>
        <p:spPr>
          <a:xfrm xmlns:a="http://schemas.openxmlformats.org/drawingml/2006/main">
            <a:off x="4533900" y="1695450"/>
            <a:ext cx="2743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0000"/>
              </a:lnSpc>
              <a:buNone/>
              <a:defRPr sz="1650" b="1">
                <a:solidFill>
                  <a:srgbClr val="0B1F3A"/>
                </a:solidFill>
                <a:latin typeface="Aptos"/>
                <a:ea typeface="Aptos"/>
                <a:cs typeface="Aptos"/>
              </a:defRPr>
            </a:pPr>
            <a:r>
              <a:rPr sz="1650" b="1">
                <a:solidFill>
                  <a:srgbClr val="0B1F3A"/>
                </a:solidFill>
                <a:latin typeface="Aptos"/>
                <a:ea typeface="Aptos"/>
                <a:cs typeface="Aptos"/>
              </a:rPr>
              <a:t>What participants did</a:t>
            </a:r>
          </a:p>
        </p:txBody>
      </p:sp>
      <p:sp>
        <p:nvSpPr>
          <p:cNvPr id="10" name="Rectangle 9">
            <a:extLst xmlns:a="http://schemas.openxmlformats.org/drawingml/2006/main">
              <a:ext uri="{FF2B5EF4-FFF2-40B4-BE49-F238E27FC236}">
                <a16:creationId xmlns:a16="http://schemas.microsoft.com/office/drawing/2014/main" id="{5A5C1674-5D6F-4D01-BFD2-8A9B26198C29}"/>
              </a:ext>
            </a:extLst>
          </p:cNvPr>
          <p:cNvSpPr>
            <a:spLocks xmlns:a="http://schemas.openxmlformats.org/drawingml/2006/main" noGrp="1"/>
          </p:cNvSpPr>
          <p:nvPr/>
        </p:nvSpPr>
        <p:spPr>
          <a:xfrm xmlns:a="http://schemas.openxmlformats.org/drawingml/2006/main">
            <a:off x="4552950" y="2400300"/>
            <a:ext cx="2667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Oriented without coaching</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Compared player-seasons</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Explained similarity and percentiles</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Used team and methods views</a:t>
            </a:r>
          </a:p>
        </p:txBody>
      </p:sp>
      <p:sp>
        <p:nvSpPr>
          <p:cNvPr id="11" name="Rectangle: Rounded Corners 10">
            <a:extLst xmlns:a="http://schemas.openxmlformats.org/drawingml/2006/main">
              <a:ext uri="{FF2B5EF4-FFF2-40B4-BE49-F238E27FC236}">
                <a16:creationId xmlns:a16="http://schemas.microsoft.com/office/drawing/2014/main" id="{0671FBBA-DFC5-4D33-AC37-6FF2B52528DA}"/>
              </a:ext>
            </a:extLst>
          </p:cNvPr>
          <p:cNvSpPr>
            <a:spLocks xmlns:a="http://schemas.openxmlformats.org/drawingml/2006/main" noGrp="1"/>
          </p:cNvSpPr>
          <p:nvPr/>
        </p:nvSpPr>
        <p:spPr>
          <a:xfrm xmlns:a="http://schemas.openxmlformats.org/drawingml/2006/main">
            <a:off x="7962900" y="1447800"/>
            <a:ext cx="3162300" cy="3314700"/>
          </a:xfrm>
          <a:prstGeom xmlns:a="http://schemas.openxmlformats.org/drawingml/2006/main" prst="roundRect">
            <a:avLst>
              <a:gd name="adj" fmla="val 241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1A4E50B2-B611-414C-8BDE-78179C96EB09}"/>
              </a:ext>
            </a:extLst>
          </p:cNvPr>
          <p:cNvSpPr>
            <a:spLocks xmlns:a="http://schemas.openxmlformats.org/drawingml/2006/main" noGrp="1"/>
          </p:cNvSpPr>
          <p:nvPr/>
        </p:nvSpPr>
        <p:spPr>
          <a:xfrm xmlns:a="http://schemas.openxmlformats.org/drawingml/2006/main">
            <a:off x="8172450" y="1695450"/>
            <a:ext cx="2743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0000"/>
              </a:lnSpc>
              <a:buNone/>
              <a:defRPr sz="1650" b="1">
                <a:solidFill>
                  <a:srgbClr val="C56A27"/>
                </a:solidFill>
                <a:latin typeface="Aptos"/>
                <a:ea typeface="Aptos"/>
                <a:cs typeface="Aptos"/>
              </a:defRPr>
            </a:pPr>
            <a:r>
              <a:rPr sz="1650" b="1">
                <a:solidFill>
                  <a:srgbClr val="C56A27"/>
                </a:solidFill>
                <a:latin typeface="Aptos"/>
                <a:ea typeface="Aptos"/>
                <a:cs typeface="Aptos"/>
              </a:rPr>
              <a:t>What we recorded</a:t>
            </a:r>
          </a:p>
        </p:txBody>
      </p:sp>
      <p:sp>
        <p:nvSpPr>
          <p:cNvPr id="13" name="Rectangle 12">
            <a:extLst xmlns:a="http://schemas.openxmlformats.org/drawingml/2006/main">
              <a:ext uri="{FF2B5EF4-FFF2-40B4-BE49-F238E27FC236}">
                <a16:creationId xmlns:a16="http://schemas.microsoft.com/office/drawing/2014/main" id="{EDD0D041-42F3-4B3E-9E30-0F1F35AC88BE}"/>
              </a:ext>
            </a:extLst>
          </p:cNvPr>
          <p:cNvSpPr>
            <a:spLocks xmlns:a="http://schemas.openxmlformats.org/drawingml/2006/main" noGrp="1"/>
          </p:cNvSpPr>
          <p:nvPr/>
        </p:nvSpPr>
        <p:spPr>
          <a:xfrm xmlns:a="http://schemas.openxmlformats.org/drawingml/2006/main">
            <a:off x="8191500" y="2400300"/>
            <a:ext cx="2667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First action and evidence used</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Hesitation and help needed</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Interpretation errors</a:t>
            </a:r>
          </a:p>
          <a:p xmlns:a="http://schemas.openxmlformats.org/drawingml/2006/main">
            <a:pPr algn="l">
              <a:lnSpc>
                <a:spcPct val="116000"/>
              </a:lnSpc>
              <a:buNone/>
              <a:defRPr sz="1223" b="0">
                <a:solidFill>
                  <a:srgbClr val="111827"/>
                </a:solidFill>
                <a:latin typeface="Aptos"/>
                <a:ea typeface="Aptos"/>
                <a:cs typeface="Aptos"/>
              </a:defRPr>
            </a:pPr>
            <a:r>
              <a:rPr sz="1223" b="0">
                <a:solidFill>
                  <a:srgbClr val="111827"/>
                </a:solidFill>
                <a:latin typeface="Aptos"/>
                <a:ea typeface="Aptos"/>
                <a:cs typeface="Aptos"/>
              </a:rPr>
              <a:t>- Ease and effectiveness</a:t>
            </a:r>
          </a:p>
        </p:txBody>
      </p:sp>
      <p:sp>
        <p:nvSpPr>
          <p:cNvPr id="14" name="Rectangle: Rounded Corners 13">
            <a:extLst xmlns:a="http://schemas.openxmlformats.org/drawingml/2006/main">
              <a:ext uri="{FF2B5EF4-FFF2-40B4-BE49-F238E27FC236}">
                <a16:creationId xmlns:a16="http://schemas.microsoft.com/office/drawing/2014/main" id="{0295D78E-933A-4DA9-A3A4-F740E46A5221}"/>
              </a:ext>
            </a:extLst>
          </p:cNvPr>
          <p:cNvSpPr>
            <a:spLocks xmlns:a="http://schemas.openxmlformats.org/drawingml/2006/main" noGrp="1"/>
          </p:cNvSpPr>
          <p:nvPr/>
        </p:nvSpPr>
        <p:spPr>
          <a:xfrm xmlns:a="http://schemas.openxmlformats.org/drawingml/2006/main">
            <a:off x="2914650" y="5219700"/>
            <a:ext cx="6096000" cy="590550"/>
          </a:xfrm>
          <a:prstGeom xmlns:a="http://schemas.openxmlformats.org/drawingml/2006/main" prst="roundRect">
            <a:avLst>
              <a:gd name="adj" fmla="val 12903"/>
            </a:avLst>
          </a:prstGeom>
          <a:solidFill xmlns:a="http://schemas.openxmlformats.org/drawingml/2006/main">
            <a:srgbClr val="DCEEFF"/>
          </a:solidFill>
          <a:ln xmlns:a="http://schemas.openxmlformats.org/drawingml/2006/main" w="9525">
            <a:solidFill>
              <a:srgbClr val="E6C5AC"/>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E8AEF5D4-D7CC-4D6F-A6B2-C0C4290EB88F}"/>
              </a:ext>
            </a:extLst>
          </p:cNvPr>
          <p:cNvSpPr>
            <a:spLocks xmlns:a="http://schemas.openxmlformats.org/drawingml/2006/main" noGrp="1"/>
          </p:cNvSpPr>
          <p:nvPr/>
        </p:nvSpPr>
        <p:spPr>
          <a:xfrm xmlns:a="http://schemas.openxmlformats.org/drawingml/2006/main">
            <a:off x="3086100" y="5353050"/>
            <a:ext cx="575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5000"/>
              </a:lnSpc>
              <a:buNone/>
              <a:defRPr sz="1500" b="1">
                <a:solidFill>
                  <a:srgbClr val="0B1F3A"/>
                </a:solidFill>
                <a:latin typeface="Aptos"/>
                <a:ea typeface="Aptos"/>
                <a:cs typeface="Aptos"/>
              </a:defRPr>
            </a:pPr>
            <a:r>
              <a:rPr sz="1500" b="1">
                <a:solidFill>
                  <a:srgbClr val="0B1F3A"/>
                </a:solidFill>
                <a:latin typeface="Aptos"/>
                <a:ea typeface="Aptos"/>
                <a:cs typeface="Aptos"/>
              </a:rPr>
              <a:t>Varied expertise exposed failures that experts missed</a:t>
            </a:r>
          </a:p>
        </p:txBody>
      </p:sp>
    </p:spTree>
    <p:extLst>
      <p:ext uri="{BB962C8B-B14F-4D97-AF65-F5344CB8AC3E}">
        <p14:creationId xmlns:p14="http://schemas.microsoft.com/office/powerpoint/2010/main" val="78781713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E3065243-324A-43FA-866F-32E9D3DFA1E5}"/>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WHAT WE LEARNED</a:t>
            </a:r>
          </a:p>
        </p:txBody>
      </p:sp>
      <p:sp>
        <p:nvSpPr>
          <p:cNvPr id="2" name="Rectangle 1">
            <a:extLst xmlns:a="http://schemas.openxmlformats.org/drawingml/2006/main">
              <a:ext uri="{FF2B5EF4-FFF2-40B4-BE49-F238E27FC236}">
                <a16:creationId xmlns:a16="http://schemas.microsoft.com/office/drawing/2014/main" id="{5E53EEAC-B953-40CA-87C3-90F717EDE0ED}"/>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Interpretation—not interaction—was the recurring problem</a:t>
            </a:r>
          </a:p>
        </p:txBody>
      </p:sp>
      <p:sp>
        <p:nvSpPr>
          <p:cNvPr id="3" name="Straight Connector 2">
            <a:extLst xmlns:a="http://schemas.openxmlformats.org/drawingml/2006/main">
              <a:ext uri="{FF2B5EF4-FFF2-40B4-BE49-F238E27FC236}">
                <a16:creationId xmlns:a16="http://schemas.microsoft.com/office/drawing/2014/main" id="{0C743A26-E7ED-44F8-BB18-56AF5B1388C8}"/>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2100BE85-4954-4642-8DC6-C2FDA583A65E}"/>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06</a:t>
            </a:r>
          </a:p>
        </p:txBody>
      </p:sp>
      <p:sp>
        <p:nvSpPr>
          <p:cNvPr id="5" name="Rectangle 4">
            <a:extLst xmlns:a="http://schemas.openxmlformats.org/drawingml/2006/main">
              <a:ext uri="{FF2B5EF4-FFF2-40B4-BE49-F238E27FC236}">
                <a16:creationId xmlns:a16="http://schemas.microsoft.com/office/drawing/2014/main" id="{95862CB5-2BD3-4D4F-9CF2-BD42DC87ADC9}"/>
              </a:ext>
            </a:extLst>
          </p:cNvPr>
          <p:cNvSpPr>
            <a:spLocks xmlns:a="http://schemas.openxmlformats.org/drawingml/2006/main" noGrp="1"/>
          </p:cNvSpPr>
          <p:nvPr/>
        </p:nvSpPr>
        <p:spPr>
          <a:xfrm xmlns:a="http://schemas.openxmlformats.org/drawingml/2006/main">
            <a:off x="723900" y="1352550"/>
            <a:ext cx="4572000" cy="257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Ryan P03 and Kenny K-03 read parts of the app as a ranking or winning formula</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eFG%, per-36, percentiles, denominators, and similarity needed local definitions</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Dense charts made exact answers harder; participants preferred bars and tables</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Hover-only state was easy to lose while scrolling</a:t>
            </a:r>
          </a:p>
        </p:txBody>
      </p:sp>
      <p:sp>
        <p:nvSpPr>
          <p:cNvPr id="6" name="Rectangle: Rounded Corners 5">
            <a:extLst xmlns:a="http://schemas.openxmlformats.org/drawingml/2006/main">
              <a:ext uri="{FF2B5EF4-FFF2-40B4-BE49-F238E27FC236}">
                <a16:creationId xmlns:a16="http://schemas.microsoft.com/office/drawing/2014/main" id="{E77DBFB3-5B3A-4902-97E2-92FA6CAA9B50}"/>
              </a:ext>
            </a:extLst>
          </p:cNvPr>
          <p:cNvSpPr>
            <a:spLocks xmlns:a="http://schemas.openxmlformats.org/drawingml/2006/main" noGrp="1"/>
          </p:cNvSpPr>
          <p:nvPr/>
        </p:nvSpPr>
        <p:spPr>
          <a:xfrm xmlns:a="http://schemas.openxmlformats.org/drawingml/2006/main">
            <a:off x="629899"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9B3CB095-0E83-4026-85D4-D7407CB25A44}"/>
              </a:ext>
            </a:extLst>
          </p:cNvPr>
          <p:cNvSpPr>
            <a:spLocks xmlns:a="http://schemas.openxmlformats.org/drawingml/2006/main" noGrp="1"/>
          </p:cNvSpPr>
          <p:nvPr/>
        </p:nvSpPr>
        <p:spPr>
          <a:xfrm xmlns:a="http://schemas.openxmlformats.org/drawingml/2006/main">
            <a:off x="629899" y="4669787"/>
            <a:ext cx="3041151"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Observed behavior</a:t>
            </a:r>
          </a:p>
        </p:txBody>
      </p:sp>
      <p:sp>
        <p:nvSpPr>
          <p:cNvPr id="8" name="Rectangle: Rounded Corners 7">
            <a:extLst xmlns:a="http://schemas.openxmlformats.org/drawingml/2006/main">
              <a:ext uri="{FF2B5EF4-FFF2-40B4-BE49-F238E27FC236}">
                <a16:creationId xmlns:a16="http://schemas.microsoft.com/office/drawing/2014/main" id="{222A3FCE-216B-4F5A-ACC7-824809571FCC}"/>
              </a:ext>
            </a:extLst>
          </p:cNvPr>
          <p:cNvSpPr>
            <a:spLocks xmlns:a="http://schemas.openxmlformats.org/drawingml/2006/main" noGrp="1"/>
          </p:cNvSpPr>
          <p:nvPr/>
        </p:nvSpPr>
        <p:spPr>
          <a:xfrm xmlns:a="http://schemas.openxmlformats.org/drawingml/2006/main">
            <a:off x="4575424"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6CD6884-94C3-44E8-8DDA-BD9742E7C0B4}"/>
              </a:ext>
            </a:extLst>
          </p:cNvPr>
          <p:cNvSpPr>
            <a:spLocks xmlns:a="http://schemas.openxmlformats.org/drawingml/2006/main" noGrp="1"/>
          </p:cNvSpPr>
          <p:nvPr/>
        </p:nvSpPr>
        <p:spPr>
          <a:xfrm xmlns:a="http://schemas.openxmlformats.org/drawingml/2006/main">
            <a:off x="4354661" y="4669787"/>
            <a:ext cx="3482918"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Interpretation risk</a:t>
            </a:r>
          </a:p>
        </p:txBody>
      </p:sp>
      <p:sp>
        <p:nvSpPr>
          <p:cNvPr id="10" name="Rectangle: Rounded Corners 9">
            <a:extLst xmlns:a="http://schemas.openxmlformats.org/drawingml/2006/main">
              <a:ext uri="{FF2B5EF4-FFF2-40B4-BE49-F238E27FC236}">
                <a16:creationId xmlns:a16="http://schemas.microsoft.com/office/drawing/2014/main" id="{077FBEBB-F730-442D-87D0-3BE2055D83B7}"/>
              </a:ext>
            </a:extLst>
          </p:cNvPr>
          <p:cNvSpPr>
            <a:spLocks xmlns:a="http://schemas.openxmlformats.org/drawingml/2006/main" noGrp="1"/>
          </p:cNvSpPr>
          <p:nvPr/>
        </p:nvSpPr>
        <p:spPr>
          <a:xfrm xmlns:a="http://schemas.openxmlformats.org/drawingml/2006/main">
            <a:off x="8520949"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EA7D477A-8BD8-467F-A564-E42616D98F57}"/>
              </a:ext>
            </a:extLst>
          </p:cNvPr>
          <p:cNvSpPr>
            <a:spLocks xmlns:a="http://schemas.openxmlformats.org/drawingml/2006/main" noGrp="1"/>
          </p:cNvSpPr>
          <p:nvPr/>
        </p:nvSpPr>
        <p:spPr>
          <a:xfrm xmlns:a="http://schemas.openxmlformats.org/drawingml/2006/main">
            <a:off x="8520949" y="4669787"/>
            <a:ext cx="3041151"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Design priority</a:t>
            </a:r>
          </a:p>
        </p:txBody>
      </p:sp>
      <p:sp>
        <p:nvSpPr>
          <p:cNvPr id="12" name="Arrow: Right 11">
            <a:extLst xmlns:a="http://schemas.openxmlformats.org/drawingml/2006/main">
              <a:ext uri="{FF2B5EF4-FFF2-40B4-BE49-F238E27FC236}">
                <a16:creationId xmlns:a16="http://schemas.microsoft.com/office/drawing/2014/main" id="{31E84D92-CD56-46A0-B3EC-545A5B711E9A}"/>
              </a:ext>
            </a:extLst>
          </p:cNvPr>
          <p:cNvSpPr>
            <a:spLocks xmlns:a="http://schemas.openxmlformats.org/drawingml/2006/main" noGrp="1"/>
          </p:cNvSpPr>
          <p:nvPr/>
        </p:nvSpPr>
        <p:spPr>
          <a:xfrm xmlns:a="http://schemas.openxmlformats.org/drawingml/2006/main">
            <a:off x="3851883" y="4697750"/>
            <a:ext cx="542708" cy="499357"/>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Rounded Corners 13">
            <a:extLst xmlns:a="http://schemas.openxmlformats.org/drawingml/2006/main">
              <a:ext uri="{FF2B5EF4-FFF2-40B4-BE49-F238E27FC236}">
                <a16:creationId xmlns:a16="http://schemas.microsoft.com/office/drawing/2014/main" id="{9BF580DB-BEED-4513-B7B9-5D08E53F6DDF}"/>
              </a:ext>
            </a:extLst>
          </p:cNvPr>
          <p:cNvSpPr>
            <a:spLocks xmlns:a="http://schemas.openxmlformats.org/drawingml/2006/main" noGrp="1"/>
          </p:cNvSpPr>
          <p:nvPr/>
        </p:nvSpPr>
        <p:spPr>
          <a:xfrm xmlns:a="http://schemas.openxmlformats.org/drawingml/2006/main">
            <a:off x="6191250" y="135255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Ranking risk</a:t>
            </a:r>
          </a:p>
        </p:txBody>
      </p:sp>
      <p:sp>
        <p:nvSpPr>
          <p:cNvPr id="15" name="Rectangle: Rounded Corners 14">
            <a:extLst xmlns:a="http://schemas.openxmlformats.org/drawingml/2006/main">
              <a:ext uri="{FF2B5EF4-FFF2-40B4-BE49-F238E27FC236}">
                <a16:creationId xmlns:a16="http://schemas.microsoft.com/office/drawing/2014/main" id="{28B252C1-7AE1-4F32-AC8C-8A7594188DD1}"/>
              </a:ext>
            </a:extLst>
          </p:cNvPr>
          <p:cNvSpPr>
            <a:spLocks xmlns:a="http://schemas.openxmlformats.org/drawingml/2006/main" noGrp="1"/>
          </p:cNvSpPr>
          <p:nvPr/>
        </p:nvSpPr>
        <p:spPr>
          <a:xfrm xmlns:a="http://schemas.openxmlformats.org/drawingml/2006/main">
            <a:off x="8115300" y="135255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Causal language</a:t>
            </a:r>
          </a:p>
        </p:txBody>
      </p:sp>
      <p:sp>
        <p:nvSpPr>
          <p:cNvPr id="16" name="Rectangle: Rounded Corners 15">
            <a:extLst xmlns:a="http://schemas.openxmlformats.org/drawingml/2006/main">
              <a:ext uri="{FF2B5EF4-FFF2-40B4-BE49-F238E27FC236}">
                <a16:creationId xmlns:a16="http://schemas.microsoft.com/office/drawing/2014/main" id="{4AA4599D-779C-4417-97A5-CB0915E2ECE5}"/>
              </a:ext>
            </a:extLst>
          </p:cNvPr>
          <p:cNvSpPr>
            <a:spLocks xmlns:a="http://schemas.openxmlformats.org/drawingml/2006/main" noGrp="1"/>
          </p:cNvSpPr>
          <p:nvPr/>
        </p:nvSpPr>
        <p:spPr>
          <a:xfrm xmlns:a="http://schemas.openxmlformats.org/drawingml/2006/main">
            <a:off x="6191250" y="179070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Local definitions</a:t>
            </a:r>
          </a:p>
        </p:txBody>
      </p:sp>
      <p:sp>
        <p:nvSpPr>
          <p:cNvPr id="17" name="Rectangle: Rounded Corners 16">
            <a:extLst xmlns:a="http://schemas.openxmlformats.org/drawingml/2006/main">
              <a:ext uri="{FF2B5EF4-FFF2-40B4-BE49-F238E27FC236}">
                <a16:creationId xmlns:a16="http://schemas.microsoft.com/office/drawing/2014/main" id="{B92242AB-ED3B-4650-B458-278B53DB2CD9}"/>
              </a:ext>
            </a:extLst>
          </p:cNvPr>
          <p:cNvSpPr>
            <a:spLocks xmlns:a="http://schemas.openxmlformats.org/drawingml/2006/main" noGrp="1"/>
          </p:cNvSpPr>
          <p:nvPr/>
        </p:nvSpPr>
        <p:spPr>
          <a:xfrm xmlns:a="http://schemas.openxmlformats.org/drawingml/2006/main">
            <a:off x="8115300" y="179070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Exact values</a:t>
            </a:r>
          </a:p>
        </p:txBody>
      </p:sp>
      <p:sp>
        <p:nvSpPr>
          <p:cNvPr id="18" name="Rectangle: Rounded Corners 17">
            <a:extLst xmlns:a="http://schemas.openxmlformats.org/drawingml/2006/main">
              <a:ext uri="{FF2B5EF4-FFF2-40B4-BE49-F238E27FC236}">
                <a16:creationId xmlns:a16="http://schemas.microsoft.com/office/drawing/2014/main" id="{F528E4A1-0386-43E5-B725-C94D6FFF5D39}"/>
              </a:ext>
            </a:extLst>
          </p:cNvPr>
          <p:cNvSpPr>
            <a:spLocks xmlns:a="http://schemas.openxmlformats.org/drawingml/2006/main" noGrp="1"/>
          </p:cNvSpPr>
          <p:nvPr/>
        </p:nvSpPr>
        <p:spPr>
          <a:xfrm xmlns:a="http://schemas.openxmlformats.org/drawingml/2006/main">
            <a:off x="6191250" y="222885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Dense charts</a:t>
            </a:r>
          </a:p>
        </p:txBody>
      </p:sp>
      <p:sp>
        <p:nvSpPr>
          <p:cNvPr id="19" name="Rectangle: Rounded Corners 18">
            <a:extLst xmlns:a="http://schemas.openxmlformats.org/drawingml/2006/main">
              <a:ext uri="{FF2B5EF4-FFF2-40B4-BE49-F238E27FC236}">
                <a16:creationId xmlns:a16="http://schemas.microsoft.com/office/drawing/2014/main" id="{8B5885AC-A0FE-4D26-A6EE-478E1BCEBDBC}"/>
              </a:ext>
            </a:extLst>
          </p:cNvPr>
          <p:cNvSpPr>
            <a:spLocks xmlns:a="http://schemas.openxmlformats.org/drawingml/2006/main" noGrp="1"/>
          </p:cNvSpPr>
          <p:nvPr/>
        </p:nvSpPr>
        <p:spPr>
          <a:xfrm xmlns:a="http://schemas.openxmlformats.org/drawingml/2006/main">
            <a:off x="8115300" y="222885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Persistent state</a:t>
            </a:r>
          </a:p>
        </p:txBody>
      </p:sp>
      <p:sp>
        <p:nvSpPr>
          <p:cNvPr id="20" name="Rectangle: Rounded Corners 19">
            <a:extLst xmlns:a="http://schemas.openxmlformats.org/drawingml/2006/main">
              <a:ext uri="{FF2B5EF4-FFF2-40B4-BE49-F238E27FC236}">
                <a16:creationId xmlns:a16="http://schemas.microsoft.com/office/drawing/2014/main" id="{DADB77B8-642B-4FA0-83F2-E585A706D4FD}"/>
              </a:ext>
            </a:extLst>
          </p:cNvPr>
          <p:cNvSpPr>
            <a:spLocks xmlns:a="http://schemas.openxmlformats.org/drawingml/2006/main" noGrp="1"/>
          </p:cNvSpPr>
          <p:nvPr/>
        </p:nvSpPr>
        <p:spPr>
          <a:xfrm xmlns:a="http://schemas.openxmlformats.org/drawingml/2006/main">
            <a:off x="6191250" y="266700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Bars + tables</a:t>
            </a:r>
          </a:p>
        </p:txBody>
      </p:sp>
      <p:sp>
        <p:nvSpPr>
          <p:cNvPr id="26" name="Arrow: Right 25">
            <a:extLst xmlns:a="http://schemas.openxmlformats.org/drawingml/2006/main">
              <a:ext uri="{FF2B5EF4-FFF2-40B4-BE49-F238E27FC236}">
                <a16:creationId xmlns:a16="http://schemas.microsoft.com/office/drawing/2014/main" id="{976D9F5A-084D-217A-F877-4455CA0E4D5C}"/>
              </a:ext>
            </a:extLst>
          </p:cNvPr>
          <p:cNvSpPr>
            <a:spLocks xmlns:a="http://schemas.openxmlformats.org/drawingml/2006/main" noGrp="1"/>
          </p:cNvSpPr>
          <p:nvPr/>
        </p:nvSpPr>
        <p:spPr>
          <a:xfrm xmlns:a="http://schemas.openxmlformats.org/drawingml/2006/main">
            <a:off x="7797649" y="4697750"/>
            <a:ext cx="542708" cy="499357"/>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Rectangle: Rounded Corners 26">
            <a:extLst xmlns:a="http://schemas.openxmlformats.org/drawingml/2006/main">
              <a:ext uri="{FF2B5EF4-FFF2-40B4-BE49-F238E27FC236}">
                <a16:creationId xmlns:a16="http://schemas.microsoft.com/office/drawing/2014/main" id="{00D10EA1-FED5-C30F-C25D-6CB54A607F28}"/>
              </a:ext>
            </a:extLst>
          </p:cNvPr>
          <p:cNvSpPr>
            <a:spLocks xmlns:a="http://schemas.openxmlformats.org/drawingml/2006/main" noGrp="1"/>
          </p:cNvSpPr>
          <p:nvPr/>
        </p:nvSpPr>
        <p:spPr>
          <a:xfrm xmlns:a="http://schemas.openxmlformats.org/drawingml/2006/main">
            <a:off x="8115300" y="266700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Clearer team question</a:t>
            </a:r>
          </a:p>
        </p:txBody>
      </p:sp>
    </p:spTree>
    <p:extLst>
      <p:ext uri="{BB962C8B-B14F-4D97-AF65-F5344CB8AC3E}">
        <p14:creationId xmlns:p14="http://schemas.microsoft.com/office/powerpoint/2010/main" val="50842948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80ED3B15-1597-C0E9-3E62-1A8FC5E6D673}"/>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DESIGN RESPONSE</a:t>
            </a:r>
          </a:p>
        </p:txBody>
      </p:sp>
      <p:sp>
        <p:nvSpPr>
          <p:cNvPr id="2" name="Rectangle 1">
            <a:extLst xmlns:a="http://schemas.openxmlformats.org/drawingml/2006/main">
              <a:ext uri="{FF2B5EF4-FFF2-40B4-BE49-F238E27FC236}">
                <a16:creationId xmlns:a16="http://schemas.microsoft.com/office/drawing/2014/main" id="{90D9747B-D136-2867-60FD-81EF7E6363B5}"/>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We moved definitions and guardrails into the interaction</a:t>
            </a:r>
          </a:p>
        </p:txBody>
      </p:sp>
      <p:sp>
        <p:nvSpPr>
          <p:cNvPr id="3" name="Straight Connector 2">
            <a:extLst xmlns:a="http://schemas.openxmlformats.org/drawingml/2006/main">
              <a:ext uri="{FF2B5EF4-FFF2-40B4-BE49-F238E27FC236}">
                <a16:creationId xmlns:a16="http://schemas.microsoft.com/office/drawing/2014/main" id="{B46BC081-7938-4D9C-B6BE-FC453DEEA872}"/>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7B72E57F-195B-1457-F368-61C7C158165C}"/>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07</a:t>
            </a:r>
          </a:p>
        </p:txBody>
      </p:sp>
      <p:sp>
        <p:nvSpPr>
          <p:cNvPr id="14" name="Rectangle: Rounded Corners 13">
            <a:extLst xmlns:a="http://schemas.openxmlformats.org/drawingml/2006/main">
              <a:ext uri="{FF2B5EF4-FFF2-40B4-BE49-F238E27FC236}">
                <a16:creationId xmlns:a16="http://schemas.microsoft.com/office/drawing/2014/main" id="{93C481AD-3274-9877-30EA-314EE98100BB}"/>
              </a:ext>
            </a:extLst>
          </p:cNvPr>
          <p:cNvSpPr>
            <a:spLocks xmlns:a="http://schemas.openxmlformats.org/drawingml/2006/main" noGrp="1"/>
          </p:cNvSpPr>
          <p:nvPr/>
        </p:nvSpPr>
        <p:spPr>
          <a:xfrm xmlns:a="http://schemas.openxmlformats.org/drawingml/2006/main">
            <a:off x="781050" y="2095500"/>
            <a:ext cx="2324100" cy="3009900"/>
          </a:xfrm>
          <a:prstGeom xmlns:a="http://schemas.openxmlformats.org/drawingml/2006/main" prst="roundRect">
            <a:avLst>
              <a:gd name="adj" fmla="val 6897"/>
            </a:avLst>
          </a:prstGeom>
          <a:solidFill xmlns:a="http://schemas.openxmlformats.org/drawingml/2006/main">
            <a:srgbClr val="F7E6D8"/>
          </a:solidFill>
          <a:ln xmlns:a="http://schemas.openxmlformats.org/drawingml/2006/main" w="9525">
            <a:solidFill>
              <a:srgbClr val="E6C5AC"/>
            </a:solidFill>
            <a:prstDash val="solid"/>
          </a:ln>
        </p:spPr>
        <p:txBody>
          <a:bodyPr xmlns:a="http://schemas.openxmlformats.org/drawingml/2006/main"/>
          <a:lstStyle xmlns:a="http://schemas.openxmlformats.org/drawingml/2006/main"/>
          <a:p xmlns:a="http://schemas.openxmlformats.org/drawingml/2006/main">
            <a:r>
              <a:rPr sz="1900"/>
              <a:t>- Neutral framing</a:t>
            </a:r>
          </a:p>
          <a:p xmlns:a="http://schemas.openxmlformats.org/drawingml/2006/main">
            <a:r>
              <a:rPr sz="1900"/>
              <a:t>- Persistent selections</a:t>
            </a:r>
          </a:p>
          <a:p xmlns:a="http://schemas.openxmlformats.org/drawingml/2006/main">
            <a:r>
              <a:rPr sz="1900"/>
              <a:t>- Exact values beside percentiles</a:t>
            </a:r>
          </a:p>
          <a:p xmlns:a="http://schemas.openxmlformats.org/drawingml/2006/main">
            <a:r>
              <a:rPr sz="1900"/>
              <a:t>- Local “higher ≠ better” note</a:t>
            </a:r>
          </a:p>
          <a:p xmlns:a="http://schemas.openxmlformats.org/drawingml/2006/main">
            <a:r>
              <a:rPr sz="1900"/>
              <a:t>- Similarity ≠ quality</a:t>
            </a:r>
          </a:p>
        </p:txBody>
      </p:sp>
      <p:sp>
        <p:nvSpPr>
          <p:cNvPr id="15" name="Rectangle 14">
            <a:extLst xmlns:a="http://schemas.openxmlformats.org/drawingml/2006/main">
              <a:ext uri="{FF2B5EF4-FFF2-40B4-BE49-F238E27FC236}">
                <a16:creationId xmlns:a16="http://schemas.microsoft.com/office/drawing/2014/main" id="{A9C3C51E-502D-6446-962C-9F5A954D1B05}"/>
              </a:ext>
            </a:extLst>
          </p:cNvPr>
          <p:cNvSpPr>
            <a:spLocks xmlns:a="http://schemas.openxmlformats.org/drawingml/2006/main" noGrp="1"/>
          </p:cNvSpPr>
          <p:nvPr/>
        </p:nvSpPr>
        <p:spPr>
          <a:xfrm xmlns:a="http://schemas.openxmlformats.org/drawingml/2006/main">
            <a:off x="609600" y="1885950"/>
            <a:ext cx="2667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nSpc>
                <a:spcPct val="105000"/>
              </a:lnSpc>
              <a:buNone/>
              <a:defRPr sz="1500" b="1">
                <a:solidFill>
                  <a:srgbClr val="0B1F3A"/>
                </a:solidFill>
                <a:latin typeface="Aptos"/>
                <a:ea typeface="Aptos"/>
                <a:cs typeface="Aptos"/>
              </a:defRPr>
            </a:pPr>
          </a:p>
        </p:txBody>
      </p:sp>
      <p:sp>
        <p:nvSpPr>
          <p:cNvPr id="29" name="Rectangle 28">
            <a:extLst xmlns:a="http://schemas.openxmlformats.org/drawingml/2006/main">
              <a:ext uri="{FF2B5EF4-FFF2-40B4-BE49-F238E27FC236}">
                <a16:creationId xmlns:a16="http://schemas.microsoft.com/office/drawing/2014/main" id="{95226457-5185-9BDD-6790-E79CC977F8B3}"/>
              </a:ext>
            </a:extLst>
          </p:cNvPr>
          <p:cNvSpPr>
            <a:spLocks xmlns:a="http://schemas.openxmlformats.org/drawingml/2006/main" noGrp="1"/>
          </p:cNvSpPr>
          <p:nvPr/>
        </p:nvSpPr>
        <p:spPr>
          <a:xfrm xmlns:a="http://schemas.openxmlformats.org/drawingml/2006/main">
            <a:off x="3619500" y="1143000"/>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FINAL FINGERPRINT — GUIDANCE APPEARS WITH THE EVIDENCE</a:t>
            </a:r>
          </a:p>
        </p:txBody>
      </p:sp>
      <p:pic>
        <p:nvPicPr>
          <p:cNvPr id="39" name="Picture 7"/>
          <p:cNvPicPr>
            <a:picLocks xmlns:a="http://schemas.openxmlformats.org/drawingml/2006/main" noChangeAspect="1"/>
          </p:cNvPicPr>
          <p:nvPr/>
        </p:nvPicPr>
        <p:blipFill>
          <a:blip xmlns:r="http://schemas.openxmlformats.org/officeDocument/2006/relationships" xmlns:a="http://schemas.openxmlformats.org/drawingml/2006/main" r:embed="R7311171ac07048fc"/>
          <a:srcRect xmlns:a="http://schemas.openxmlformats.org/drawingml/2006/main" l="90" t="0" r="90" b="0"/>
          <a:stretch xmlns:a="http://schemas.openxmlformats.org/drawingml/2006/main">
            <a:fillRect l="0" t="0" r="0" b="0"/>
          </a:stretch>
        </p:blipFill>
        <p:spPr>
          <a:xfrm xmlns:a="http://schemas.openxmlformats.org/drawingml/2006/main">
            <a:off x="3619500" y="1524000"/>
            <a:ext cx="7905750" cy="4457700"/>
          </a:xfrm>
          <a:prstGeom xmlns:a="http://schemas.openxmlformats.org/drawingml/2006/main" prst="rect">
            <a:avLst/>
          </a:prstGeom>
          <a:ln xmlns:a="http://schemas.openxmlformats.org/drawingml/2006/main">
            <a:solidFill>
              <a:schemeClr val="tx1"/>
            </a:solidFill>
          </a:ln>
        </p:spPr>
      </p:pic>
      <p:sp>
        <p:nvSpPr>
          <p:cNvPr id="9" name="Rectangle 8">
            <a:extLst xmlns:a="http://schemas.openxmlformats.org/drawingml/2006/main">
              <a:ext uri="{FF2B5EF4-FFF2-40B4-BE49-F238E27FC236}">
                <a16:creationId xmlns:a16="http://schemas.microsoft.com/office/drawing/2014/main" id="{41E128EC-8EA9-1EC9-FDD8-EFFF87CA36B1}"/>
              </a:ext>
            </a:extLst>
          </p:cNvPr>
          <p:cNvSpPr>
            <a:spLocks xmlns:a="http://schemas.openxmlformats.org/drawingml/2006/main" noGrp="1"/>
          </p:cNvSpPr>
          <p:nvPr/>
        </p:nvSpPr>
        <p:spPr>
          <a:xfrm xmlns:a="http://schemas.openxmlformats.org/drawingml/2006/main">
            <a:off x="609600" y="138112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0000"/>
              </a:lnSpc>
              <a:buNone/>
              <a:defRPr sz="1516" b="1">
                <a:solidFill>
                  <a:srgbClr val="0B1F3A"/>
                </a:solidFill>
                <a:latin typeface="Aptos"/>
                <a:ea typeface="Aptos"/>
                <a:cs typeface="Aptos"/>
              </a:defRPr>
            </a:pPr>
            <a:r>
              <a:rPr sz="1516" b="1">
                <a:solidFill>
                  <a:srgbClr val="0B1F3A"/>
                </a:solidFill>
                <a:latin typeface="Aptos"/>
                <a:ea typeface="Aptos"/>
                <a:cs typeface="Aptos"/>
              </a:rPr>
              <a:t>What changed</a:t>
            </a:r>
          </a:p>
        </p:txBody>
      </p:sp>
    </p:spTree>
    <p:extLst>
      <p:ext uri="{BB962C8B-B14F-4D97-AF65-F5344CB8AC3E}">
        <p14:creationId xmlns:p14="http://schemas.microsoft.com/office/powerpoint/2010/main" val="144284036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358409BC-2A62-2B4C-B719-38B5FAD02A79}"/>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DESIGN RESPONSE</a:t>
            </a:r>
          </a:p>
        </p:txBody>
      </p:sp>
      <p:sp>
        <p:nvSpPr>
          <p:cNvPr id="2" name="Rectangle 1">
            <a:extLst xmlns:a="http://schemas.openxmlformats.org/drawingml/2006/main">
              <a:ext uri="{FF2B5EF4-FFF2-40B4-BE49-F238E27FC236}">
                <a16:creationId xmlns:a16="http://schemas.microsoft.com/office/drawing/2014/main" id="{96DED5DF-DF05-F76D-3506-D41098932579}"/>
              </a:ext>
            </a:extLst>
          </p:cNvPr>
          <p:cNvSpPr>
            <a:spLocks xmlns:a="http://schemas.openxmlformats.org/drawingml/2006/main" noGrp="1"/>
          </p:cNvSpPr>
          <p:nvPr/>
        </p:nvSpPr>
        <p:spPr>
          <a:xfrm xmlns:a="http://schemas.openxmlformats.org/drawingml/2006/main">
            <a:off x="609599" y="552450"/>
            <a:ext cx="1128503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Geography answered the wrong question</a:t>
            </a:r>
          </a:p>
        </p:txBody>
      </p:sp>
      <p:sp>
        <p:nvSpPr>
          <p:cNvPr id="3" name="Straight Connector 2">
            <a:extLst xmlns:a="http://schemas.openxmlformats.org/drawingml/2006/main">
              <a:ext uri="{FF2B5EF4-FFF2-40B4-BE49-F238E27FC236}">
                <a16:creationId xmlns:a16="http://schemas.microsoft.com/office/drawing/2014/main" id="{20229265-1173-729F-6D14-D7A328B2C647}"/>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19836394-04DB-6D34-9DDF-D62AE68D2A3C}"/>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08</a:t>
            </a:r>
          </a:p>
        </p:txBody>
      </p:sp>
      <p:sp>
        <p:nvSpPr>
          <p:cNvPr id="9" name="Rectangle: Rounded Corners 8">
            <a:extLst xmlns:a="http://schemas.openxmlformats.org/drawingml/2006/main">
              <a:ext uri="{FF2B5EF4-FFF2-40B4-BE49-F238E27FC236}">
                <a16:creationId xmlns:a16="http://schemas.microsoft.com/office/drawing/2014/main" id="{1D497128-F5D2-2154-6B74-84C65612D596}"/>
              </a:ext>
            </a:extLst>
          </p:cNvPr>
          <p:cNvSpPr>
            <a:spLocks xmlns:a="http://schemas.openxmlformats.org/drawingml/2006/main" noGrp="1"/>
          </p:cNvSpPr>
          <p:nvPr/>
        </p:nvSpPr>
        <p:spPr>
          <a:xfrm xmlns:a="http://schemas.openxmlformats.org/drawingml/2006/main">
            <a:off x="609600" y="4752975"/>
            <a:ext cx="4600575" cy="15811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8E0E8"/>
            </a:solidFill>
            <a:prstDash val="solid"/>
          </a:ln>
          <a:effectLst xmlns:a="http://schemas.openxmlformats.org/drawingml/2006/main">
            <a:outerShdw blurRad="50800" dist="38100" dir="2700000" algn="tl" rotWithShape="0">
              <a:prstClr val="black">
                <a:alpha val="40000"/>
              </a:prstClr>
            </a:outerShdw>
          </a:effectLst>
        </p:spPr>
        <p:txBody>
          <a:bodyPr xmlns:a="http://schemas.openxmlformats.org/drawingml/2006/main"/>
          <a:lstStyle xmlns:a="http://schemas.openxmlformats.org/drawingml/2006/main"/>
          <a:p xmlns:a="http://schemas.openxmlformats.org/drawingml/2006/main"/>
        </p:txBody>
      </p:sp>
      <p:pic>
        <p:nvPicPr>
          <p:cNvPr id="32" name="Picture 17"/>
          <p:cNvPicPr>
            <a:picLocks xmlns:a="http://schemas.openxmlformats.org/drawingml/2006/main" noChangeAspect="1"/>
          </p:cNvPicPr>
          <p:nvPr/>
        </p:nvPicPr>
        <p:blipFill>
          <a:blip xmlns:r="http://schemas.openxmlformats.org/officeDocument/2006/relationships" xmlns:a="http://schemas.openxmlformats.org/drawingml/2006/main" r:embed="R331dd96415264dd1"/>
          <a:stretch xmlns:a="http://schemas.openxmlformats.org/drawingml/2006/main"/>
        </p:blipFill>
        <p:spPr>
          <a:xfrm xmlns:a="http://schemas.openxmlformats.org/drawingml/2006/main">
            <a:off x="609600" y="1562793"/>
            <a:ext cx="4600575" cy="2589415"/>
          </a:xfrm>
          <a:prstGeom xmlns:a="http://schemas.openxmlformats.org/drawingml/2006/main" prst="rect">
            <a:avLst/>
          </a:prstGeom>
          <a:ln xmlns:a="http://schemas.openxmlformats.org/drawingml/2006/main">
            <a:solidFill>
              <a:schemeClr val="tx1"/>
            </a:solidFill>
          </a:ln>
        </p:spPr>
      </p:pic>
      <p:sp>
        <p:nvSpPr>
          <p:cNvPr id="19" name="Rectangle 18">
            <a:extLst xmlns:a="http://schemas.openxmlformats.org/drawingml/2006/main">
              <a:ext uri="{FF2B5EF4-FFF2-40B4-BE49-F238E27FC236}">
                <a16:creationId xmlns:a16="http://schemas.microsoft.com/office/drawing/2014/main" id="{17324860-82A6-B7B3-7670-A97AB851C936}"/>
              </a:ext>
            </a:extLst>
          </p:cNvPr>
          <p:cNvSpPr>
            <a:spLocks xmlns:a="http://schemas.openxmlformats.org/drawingml/2006/main" noGrp="1"/>
          </p:cNvSpPr>
          <p:nvPr/>
        </p:nvSpPr>
        <p:spPr>
          <a:xfrm xmlns:a="http://schemas.openxmlformats.org/drawingml/2006/main">
            <a:off x="609600" y="4805363"/>
            <a:ext cx="4600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ctr">
              <a:lnSpc>
                <a:spcPct val="108000"/>
              </a:lnSpc>
              <a:buNone/>
              <a:defRPr sz="1800" b="1">
                <a:solidFill>
                  <a:srgbClr val="C56A27"/>
                </a:solidFill>
                <a:latin typeface="Aptos"/>
                <a:ea typeface="Aptos"/>
                <a:cs typeface="Aptos"/>
              </a:defRPr>
            </a:pPr>
            <a:r>
              <a:rPr sz="1800" b="1">
                <a:solidFill>
                  <a:srgbClr val="C56A27"/>
                </a:solidFill>
                <a:latin typeface="Aptos"/>
                <a:ea typeface="Aptos"/>
                <a:cs typeface="Aptos"/>
              </a:rPr>
              <a:t>Before: Team Context Map</a:t>
            </a:r>
          </a:p>
        </p:txBody>
      </p:sp>
      <p:sp>
        <p:nvSpPr>
          <p:cNvPr id="20" name="Rectangle 19">
            <a:extLst xmlns:a="http://schemas.openxmlformats.org/drawingml/2006/main">
              <a:ext uri="{FF2B5EF4-FFF2-40B4-BE49-F238E27FC236}">
                <a16:creationId xmlns:a16="http://schemas.microsoft.com/office/drawing/2014/main" id="{59BC81E7-E101-16D8-9D4A-5AC755E9F426}"/>
              </a:ext>
            </a:extLst>
          </p:cNvPr>
          <p:cNvSpPr>
            <a:spLocks xmlns:a="http://schemas.openxmlformats.org/drawingml/2006/main" noGrp="1"/>
          </p:cNvSpPr>
          <p:nvPr/>
        </p:nvSpPr>
        <p:spPr>
          <a:xfrm xmlns:a="http://schemas.openxmlformats.org/drawingml/2006/main">
            <a:off x="952500" y="5114925"/>
            <a:ext cx="39433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Mechanically easy, but secondary to the role story</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State averages hid differences between teams</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Exact answers came from the table, not the map</a:t>
            </a:r>
          </a:p>
        </p:txBody>
      </p:sp>
      <p:sp>
        <p:nvSpPr>
          <p:cNvPr id="21" name="Arrow: Right 20">
            <a:extLst xmlns:a="http://schemas.openxmlformats.org/drawingml/2006/main">
              <a:ext uri="{FF2B5EF4-FFF2-40B4-BE49-F238E27FC236}">
                <a16:creationId xmlns:a16="http://schemas.microsoft.com/office/drawing/2014/main" id="{BDA77B5A-4305-CA88-54CB-095D87A4F74C}"/>
              </a:ext>
            </a:extLst>
          </p:cNvPr>
          <p:cNvSpPr>
            <a:spLocks xmlns:a="http://schemas.openxmlformats.org/drawingml/2006/main" noGrp="1"/>
          </p:cNvSpPr>
          <p:nvPr/>
        </p:nvSpPr>
        <p:spPr>
          <a:xfrm xmlns:a="http://schemas.openxmlformats.org/drawingml/2006/main">
            <a:off x="5622131" y="2607659"/>
            <a:ext cx="614839" cy="499396"/>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pic>
        <p:nvPicPr>
          <p:cNvPr id="36" name="Picture 16"/>
          <p:cNvPicPr>
            <a:picLocks xmlns:a="http://schemas.openxmlformats.org/drawingml/2006/main" noChangeAspect="1"/>
          </p:cNvPicPr>
          <p:nvPr/>
        </p:nvPicPr>
        <p:blipFill>
          <a:blip xmlns:r="http://schemas.openxmlformats.org/officeDocument/2006/relationships" xmlns:a="http://schemas.openxmlformats.org/drawingml/2006/main" r:embed="Rcc4ff88bcf3740e3"/>
          <a:stretch xmlns:a="http://schemas.openxmlformats.org/drawingml/2006/main"/>
        </p:blipFill>
        <p:spPr>
          <a:xfrm xmlns:a="http://schemas.openxmlformats.org/drawingml/2006/main">
            <a:off x="6638925" y="1562793"/>
            <a:ext cx="4600575" cy="2589415"/>
          </a:xfrm>
          <a:prstGeom xmlns:a="http://schemas.openxmlformats.org/drawingml/2006/main" prst="rect">
            <a:avLst/>
          </a:prstGeom>
          <a:ln xmlns:a="http://schemas.openxmlformats.org/drawingml/2006/main">
            <a:solidFill>
              <a:schemeClr val="tx1"/>
            </a:solidFill>
          </a:ln>
        </p:spPr>
      </p:pic>
      <p:sp>
        <p:nvSpPr>
          <p:cNvPr id="22" name="Rectangle: Rounded Corners 21">
            <a:extLst xmlns:a="http://schemas.openxmlformats.org/drawingml/2006/main">
              <a:ext uri="{FF2B5EF4-FFF2-40B4-BE49-F238E27FC236}">
                <a16:creationId xmlns:a16="http://schemas.microsoft.com/office/drawing/2014/main" id="{DFA510BB-8DD4-1F9D-92F8-C2750210D8DA}"/>
              </a:ext>
            </a:extLst>
          </p:cNvPr>
          <p:cNvSpPr>
            <a:spLocks xmlns:a="http://schemas.openxmlformats.org/drawingml/2006/main" noGrp="1"/>
          </p:cNvSpPr>
          <p:nvPr/>
        </p:nvSpPr>
        <p:spPr>
          <a:xfrm xmlns:a="http://schemas.openxmlformats.org/drawingml/2006/main">
            <a:off x="6638925" y="4752975"/>
            <a:ext cx="4600575" cy="15811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8E0E8"/>
            </a:solidFill>
            <a:prstDash val="solid"/>
          </a:ln>
          <a:effectLst xmlns:a="http://schemas.openxmlformats.org/drawingml/2006/main">
            <a:outerShdw blurRad="50800" dist="38100" dir="2700000" algn="tl" rotWithShape="0">
              <a:prstClr val="black">
                <a:alpha val="40000"/>
              </a:prstClr>
            </a:outerShdw>
          </a:effectLst>
        </p:spPr>
        <p:txBody>
          <a:bodyPr xmlns:a="http://schemas.openxmlformats.org/drawingml/2006/main"/>
          <a:lstStyle xmlns:a="http://schemas.openxmlformats.org/drawingml/2006/main"/>
          <a:p xmlns:a="http://schemas.openxmlformats.org/drawingml/2006/main"/>
        </p:txBody>
      </p:sp>
      <p:sp>
        <p:nvSpPr>
          <p:cNvPr id="23" name="Rectangle 22">
            <a:extLst xmlns:a="http://schemas.openxmlformats.org/drawingml/2006/main">
              <a:ext uri="{FF2B5EF4-FFF2-40B4-BE49-F238E27FC236}">
                <a16:creationId xmlns:a16="http://schemas.microsoft.com/office/drawing/2014/main" id="{7A251B64-4E05-2CDE-691D-09AFE2484C17}"/>
              </a:ext>
            </a:extLst>
          </p:cNvPr>
          <p:cNvSpPr>
            <a:spLocks xmlns:a="http://schemas.openxmlformats.org/drawingml/2006/main" noGrp="1"/>
          </p:cNvSpPr>
          <p:nvPr/>
        </p:nvSpPr>
        <p:spPr>
          <a:xfrm xmlns:a="http://schemas.openxmlformats.org/drawingml/2006/main">
            <a:off x="6638925" y="4805363"/>
            <a:ext cx="4600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ctr">
              <a:lnSpc>
                <a:spcPct val="108000"/>
              </a:lnSpc>
              <a:buNone/>
              <a:defRPr sz="1800" b="1">
                <a:solidFill>
                  <a:srgbClr val="0B1F3A"/>
                </a:solidFill>
                <a:latin typeface="Aptos"/>
                <a:ea typeface="Aptos"/>
                <a:cs typeface="Aptos"/>
              </a:defRPr>
            </a:pPr>
            <a:r>
              <a:rPr b="1">
                <a:solidFill>
                  <a:srgbClr val="0B1F3A"/>
                </a:solidFill>
                <a:latin typeface="Aptos"/>
                <a:ea typeface="Aptos"/>
                <a:cs typeface="Aptos"/>
              </a:rPr>
              <a:t>Now: Team Roster Lab</a:t>
            </a:r>
          </a:p>
        </p:txBody>
      </p:sp>
      <p:sp>
        <p:nvSpPr>
          <p:cNvPr id="24" name="Rectangle 23">
            <a:extLst xmlns:a="http://schemas.openxmlformats.org/drawingml/2006/main">
              <a:ext uri="{FF2B5EF4-FFF2-40B4-BE49-F238E27FC236}">
                <a16:creationId xmlns:a16="http://schemas.microsoft.com/office/drawing/2014/main" id="{E40F1A09-4AFA-63DF-1766-56F13B7B2791}"/>
              </a:ext>
            </a:extLst>
          </p:cNvPr>
          <p:cNvSpPr>
            <a:spLocks xmlns:a="http://schemas.openxmlformats.org/drawingml/2006/main" noGrp="1"/>
          </p:cNvSpPr>
          <p:nvPr/>
        </p:nvSpPr>
        <p:spPr>
          <a:xfrm xmlns:a="http://schemas.openxmlformats.org/drawingml/2006/main">
            <a:off x="6981825" y="5114925"/>
            <a:ext cx="39433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Team-season rotation becomes the unit</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Swap keeps the prior team available for comparison</a:t>
            </a:r>
          </a:p>
          <a:p xmlns:a="http://schemas.openxmlformats.org/drawingml/2006/main">
            <a:pPr algn="l">
              <a:lnSpc>
                <a:spcPct val="116000"/>
              </a:lnSpc>
              <a:buNone/>
              <a:defRPr sz="1275" b="0">
                <a:solidFill>
                  <a:srgbClr val="111827"/>
                </a:solidFill>
                <a:latin typeface="Aptos"/>
                <a:ea typeface="Aptos"/>
                <a:cs typeface="Aptos"/>
              </a:defRPr>
            </a:pPr>
            <a:r>
              <a:rPr sz="1275">
                <a:solidFill>
                  <a:srgbClr val="111827"/>
                </a:solidFill>
                <a:latin typeface="Aptos"/>
                <a:ea typeface="Aptos"/>
                <a:cs typeface="Aptos"/>
              </a:rPr>
              <a:t>- Role map, coverage, and benchmark answer one question</a:t>
            </a:r>
          </a:p>
        </p:txBody>
      </p:sp>
    </p:spTree>
    <p:extLst>
      <p:ext uri="{BB962C8B-B14F-4D97-AF65-F5344CB8AC3E}">
        <p14:creationId xmlns:p14="http://schemas.microsoft.com/office/powerpoint/2010/main" val="1635370910"/>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E3065243-324A-43FA-866F-32E9D3DFA1E5}"/>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TOOL CHOICE</a:t>
            </a:r>
          </a:p>
        </p:txBody>
      </p:sp>
      <p:sp>
        <p:nvSpPr>
          <p:cNvPr id="2" name="Rectangle 1">
            <a:extLst xmlns:a="http://schemas.openxmlformats.org/drawingml/2006/main">
              <a:ext uri="{FF2B5EF4-FFF2-40B4-BE49-F238E27FC236}">
                <a16:creationId xmlns:a16="http://schemas.microsoft.com/office/drawing/2014/main" id="{5E53EEAC-B953-40CA-87C3-90F717EDE0ED}"/>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The stack matched the interaction and hosting constraints</a:t>
            </a:r>
          </a:p>
        </p:txBody>
      </p:sp>
      <p:sp>
        <p:nvSpPr>
          <p:cNvPr id="3" name="Straight Connector 2">
            <a:extLst xmlns:a="http://schemas.openxmlformats.org/drawingml/2006/main">
              <a:ext uri="{FF2B5EF4-FFF2-40B4-BE49-F238E27FC236}">
                <a16:creationId xmlns:a16="http://schemas.microsoft.com/office/drawing/2014/main" id="{0C743A26-E7ED-44F8-BB18-56AF5B1388C8}"/>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2100BE85-4954-4642-8DC6-C2FDA583A65E}"/>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09</a:t>
            </a:r>
          </a:p>
        </p:txBody>
      </p:sp>
      <p:sp>
        <p:nvSpPr>
          <p:cNvPr id="5" name="Rectangle 4">
            <a:extLst xmlns:a="http://schemas.openxmlformats.org/drawingml/2006/main">
              <a:ext uri="{FF2B5EF4-FFF2-40B4-BE49-F238E27FC236}">
                <a16:creationId xmlns:a16="http://schemas.microsoft.com/office/drawing/2014/main" id="{95862CB5-2BD3-4D4F-9CF2-BD42DC87ADC9}"/>
              </a:ext>
            </a:extLst>
          </p:cNvPr>
          <p:cNvSpPr>
            <a:spLocks xmlns:a="http://schemas.openxmlformats.org/drawingml/2006/main" noGrp="1"/>
          </p:cNvSpPr>
          <p:nvPr/>
        </p:nvSpPr>
        <p:spPr>
          <a:xfrm xmlns:a="http://schemas.openxmlformats.org/drawingml/2006/main">
            <a:off x="723900" y="1352550"/>
            <a:ext cx="4572000" cy="257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Flask kept local routes, templates, and data endpoints simple</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D3 and vanilla JavaScript supported linked custom interactions</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A static build made the public version reliable and portable</a:t>
            </a:r>
          </a:p>
          <a:p xmlns:a="http://schemas.openxmlformats.org/drawingml/2006/main">
            <a:pPr algn="l">
              <a:lnSpc>
                <a:spcPct val="116000"/>
              </a:lnSpc>
              <a:buNone/>
              <a:defRPr sz="1575" b="0">
                <a:solidFill>
                  <a:srgbClr val="111827"/>
                </a:solidFill>
                <a:latin typeface="Aptos"/>
                <a:ea typeface="Aptos"/>
                <a:cs typeface="Aptos"/>
              </a:defRPr>
            </a:pPr>
            <a:r>
              <a:rPr sz="1575" b="0">
                <a:solidFill>
                  <a:srgbClr val="111827"/>
                </a:solidFill>
                <a:latin typeface="Aptos"/>
                <a:ea typeface="Aptos"/>
                <a:cs typeface="Aptos"/>
              </a:rPr>
              <a:t>- CSV and JSON keep the data path inspectable</a:t>
            </a:r>
          </a:p>
        </p:txBody>
      </p:sp>
      <p:sp>
        <p:nvSpPr>
          <p:cNvPr id="6" name="Rectangle: Rounded Corners 5">
            <a:extLst xmlns:a="http://schemas.openxmlformats.org/drawingml/2006/main">
              <a:ext uri="{FF2B5EF4-FFF2-40B4-BE49-F238E27FC236}">
                <a16:creationId xmlns:a16="http://schemas.microsoft.com/office/drawing/2014/main" id="{E77DBFB3-5B3A-4902-97E2-92FA6CAA9B50}"/>
              </a:ext>
            </a:extLst>
          </p:cNvPr>
          <p:cNvSpPr>
            <a:spLocks xmlns:a="http://schemas.openxmlformats.org/drawingml/2006/main" noGrp="1"/>
          </p:cNvSpPr>
          <p:nvPr/>
        </p:nvSpPr>
        <p:spPr>
          <a:xfrm xmlns:a="http://schemas.openxmlformats.org/drawingml/2006/main">
            <a:off x="629899"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9B3CB095-0E83-4026-85D4-D7407CB25A44}"/>
              </a:ext>
            </a:extLst>
          </p:cNvPr>
          <p:cNvSpPr>
            <a:spLocks xmlns:a="http://schemas.openxmlformats.org/drawingml/2006/main" noGrp="1"/>
          </p:cNvSpPr>
          <p:nvPr/>
        </p:nvSpPr>
        <p:spPr>
          <a:xfrm xmlns:a="http://schemas.openxmlformats.org/drawingml/2006/main">
            <a:off x="629899" y="4669787"/>
            <a:ext cx="3041151"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Flask + Jinja</a:t>
            </a:r>
          </a:p>
          <a:p xmlns:a="http://schemas.openxmlformats.org/drawingml/2006/main">
            <a:pPr algn="ctr">
              <a:lnSpc>
                <a:spcPct val="108000"/>
              </a:lnSpc>
              <a:buNone/>
              <a:defRPr sz="1575" b="1">
                <a:solidFill>
                  <a:srgbClr val="0B1F3A"/>
                </a:solidFill>
                <a:latin typeface="Aptos"/>
                <a:ea typeface="Aptos"/>
                <a:cs typeface="Aptos"/>
              </a:defRPr>
            </a:pPr>
            <a:r>
              <a:rPr sz="1200" b="1">
                <a:solidFill>
                  <a:srgbClr val="0B1F3A"/>
                </a:solidFill>
                <a:latin typeface="Aptos"/>
                <a:ea typeface="Aptos"/>
                <a:cs typeface="Aptos"/>
              </a:rPr>
              <a:t>Local app and data routes</a:t>
            </a:r>
          </a:p>
        </p:txBody>
      </p:sp>
      <p:sp>
        <p:nvSpPr>
          <p:cNvPr id="8" name="Rectangle: Rounded Corners 7">
            <a:extLst xmlns:a="http://schemas.openxmlformats.org/drawingml/2006/main">
              <a:ext uri="{FF2B5EF4-FFF2-40B4-BE49-F238E27FC236}">
                <a16:creationId xmlns:a16="http://schemas.microsoft.com/office/drawing/2014/main" id="{222A3FCE-216B-4F5A-ACC7-824809571FCC}"/>
              </a:ext>
            </a:extLst>
          </p:cNvPr>
          <p:cNvSpPr>
            <a:spLocks xmlns:a="http://schemas.openxmlformats.org/drawingml/2006/main" noGrp="1"/>
          </p:cNvSpPr>
          <p:nvPr/>
        </p:nvSpPr>
        <p:spPr>
          <a:xfrm xmlns:a="http://schemas.openxmlformats.org/drawingml/2006/main">
            <a:off x="4575424"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6CD6884-94C3-44E8-8DDA-BD9742E7C0B4}"/>
              </a:ext>
            </a:extLst>
          </p:cNvPr>
          <p:cNvSpPr>
            <a:spLocks xmlns:a="http://schemas.openxmlformats.org/drawingml/2006/main" noGrp="1"/>
          </p:cNvSpPr>
          <p:nvPr/>
        </p:nvSpPr>
        <p:spPr>
          <a:xfrm xmlns:a="http://schemas.openxmlformats.org/drawingml/2006/main">
            <a:off x="4354661" y="4669787"/>
            <a:ext cx="3482918"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D3 + JavaScript</a:t>
            </a:r>
          </a:p>
          <a:p xmlns:a="http://schemas.openxmlformats.org/drawingml/2006/main">
            <a:pPr algn="ctr">
              <a:lnSpc>
                <a:spcPct val="108000"/>
              </a:lnSpc>
              <a:buNone/>
              <a:defRPr sz="1575" b="1">
                <a:solidFill>
                  <a:srgbClr val="0B1F3A"/>
                </a:solidFill>
                <a:latin typeface="Aptos"/>
                <a:ea typeface="Aptos"/>
                <a:cs typeface="Aptos"/>
              </a:defRPr>
            </a:pPr>
            <a:r>
              <a:rPr sz="1200" b="1">
                <a:solidFill>
                  <a:srgbClr val="0B1F3A"/>
                </a:solidFill>
                <a:latin typeface="Aptos"/>
                <a:ea typeface="Aptos"/>
                <a:cs typeface="Aptos"/>
              </a:rPr>
              <a:t>Linked interactive views</a:t>
            </a:r>
          </a:p>
        </p:txBody>
      </p:sp>
      <p:sp>
        <p:nvSpPr>
          <p:cNvPr id="10" name="Rectangle: Rounded Corners 9">
            <a:extLst xmlns:a="http://schemas.openxmlformats.org/drawingml/2006/main">
              <a:ext uri="{FF2B5EF4-FFF2-40B4-BE49-F238E27FC236}">
                <a16:creationId xmlns:a16="http://schemas.microsoft.com/office/drawing/2014/main" id="{077FBEBB-F730-442D-87D0-3BE2055D83B7}"/>
              </a:ext>
            </a:extLst>
          </p:cNvPr>
          <p:cNvSpPr>
            <a:spLocks xmlns:a="http://schemas.openxmlformats.org/drawingml/2006/main" noGrp="1"/>
          </p:cNvSpPr>
          <p:nvPr/>
        </p:nvSpPr>
        <p:spPr>
          <a:xfrm xmlns:a="http://schemas.openxmlformats.org/drawingml/2006/main">
            <a:off x="8520949" y="4204058"/>
            <a:ext cx="3041151" cy="1486742"/>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EA7D477A-8BD8-467F-A564-E42616D98F57}"/>
              </a:ext>
            </a:extLst>
          </p:cNvPr>
          <p:cNvSpPr>
            <a:spLocks xmlns:a="http://schemas.openxmlformats.org/drawingml/2006/main" noGrp="1"/>
          </p:cNvSpPr>
          <p:nvPr/>
        </p:nvSpPr>
        <p:spPr>
          <a:xfrm xmlns:a="http://schemas.openxmlformats.org/drawingml/2006/main">
            <a:off x="8520949" y="4669787"/>
            <a:ext cx="3041151" cy="518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p xmlns:a="http://schemas.openxmlformats.org/drawingml/2006/main">
            <a:pPr algn="ctr">
              <a:lnSpc>
                <a:spcPct val="108000"/>
              </a:lnSpc>
              <a:buNone/>
              <a:defRPr sz="1575" b="1">
                <a:solidFill>
                  <a:srgbClr val="0B1F3A"/>
                </a:solidFill>
                <a:latin typeface="Aptos"/>
                <a:ea typeface="Aptos"/>
                <a:cs typeface="Aptos"/>
              </a:defRPr>
            </a:pPr>
            <a:r>
              <a:rPr sz="1600" b="1">
                <a:solidFill>
                  <a:srgbClr val="0B1F3A"/>
                </a:solidFill>
                <a:latin typeface="Aptos"/>
                <a:ea typeface="Aptos"/>
                <a:cs typeface="Aptos"/>
              </a:rPr>
              <a:t>Static build + Pages</a:t>
            </a:r>
          </a:p>
          <a:p xmlns:a="http://schemas.openxmlformats.org/drawingml/2006/main">
            <a:pPr algn="ctr">
              <a:lnSpc>
                <a:spcPct val="108000"/>
              </a:lnSpc>
              <a:buNone/>
              <a:defRPr sz="1575" b="1">
                <a:solidFill>
                  <a:srgbClr val="0B1F3A"/>
                </a:solidFill>
                <a:latin typeface="Aptos"/>
                <a:ea typeface="Aptos"/>
                <a:cs typeface="Aptos"/>
              </a:defRPr>
            </a:pPr>
            <a:r>
              <a:rPr sz="1200" b="1">
                <a:solidFill>
                  <a:srgbClr val="0B1F3A"/>
                </a:solidFill>
                <a:latin typeface="Aptos"/>
                <a:ea typeface="Aptos"/>
                <a:cs typeface="Aptos"/>
              </a:rPr>
              <a:t>Reliable public delivery</a:t>
            </a:r>
          </a:p>
        </p:txBody>
      </p:sp>
      <p:sp>
        <p:nvSpPr>
          <p:cNvPr id="12" name="Arrow: Right 11">
            <a:extLst xmlns:a="http://schemas.openxmlformats.org/drawingml/2006/main">
              <a:ext uri="{FF2B5EF4-FFF2-40B4-BE49-F238E27FC236}">
                <a16:creationId xmlns:a16="http://schemas.microsoft.com/office/drawing/2014/main" id="{31E84D92-CD56-46A0-B3EC-545A5B711E9A}"/>
              </a:ext>
            </a:extLst>
          </p:cNvPr>
          <p:cNvSpPr>
            <a:spLocks xmlns:a="http://schemas.openxmlformats.org/drawingml/2006/main" noGrp="1"/>
          </p:cNvSpPr>
          <p:nvPr/>
        </p:nvSpPr>
        <p:spPr>
          <a:xfrm xmlns:a="http://schemas.openxmlformats.org/drawingml/2006/main">
            <a:off x="3851883" y="4697750"/>
            <a:ext cx="542708" cy="499357"/>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Rounded Corners 13">
            <a:extLst xmlns:a="http://schemas.openxmlformats.org/drawingml/2006/main">
              <a:ext uri="{FF2B5EF4-FFF2-40B4-BE49-F238E27FC236}">
                <a16:creationId xmlns:a16="http://schemas.microsoft.com/office/drawing/2014/main" id="{9BF580DB-BEED-4513-B7B9-5D08E53F6DDF}"/>
              </a:ext>
            </a:extLst>
          </p:cNvPr>
          <p:cNvSpPr>
            <a:spLocks xmlns:a="http://schemas.openxmlformats.org/drawingml/2006/main" noGrp="1"/>
          </p:cNvSpPr>
          <p:nvPr/>
        </p:nvSpPr>
        <p:spPr>
          <a:xfrm xmlns:a="http://schemas.openxmlformats.org/drawingml/2006/main">
            <a:off x="6191250" y="135255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Custom charts</a:t>
            </a:r>
          </a:p>
        </p:txBody>
      </p:sp>
      <p:sp>
        <p:nvSpPr>
          <p:cNvPr id="15" name="Rectangle: Rounded Corners 14">
            <a:extLst xmlns:a="http://schemas.openxmlformats.org/drawingml/2006/main">
              <a:ext uri="{FF2B5EF4-FFF2-40B4-BE49-F238E27FC236}">
                <a16:creationId xmlns:a16="http://schemas.microsoft.com/office/drawing/2014/main" id="{28B252C1-7AE1-4F32-AC8C-8A7594188DD1}"/>
              </a:ext>
            </a:extLst>
          </p:cNvPr>
          <p:cNvSpPr>
            <a:spLocks xmlns:a="http://schemas.openxmlformats.org/drawingml/2006/main" noGrp="1"/>
          </p:cNvSpPr>
          <p:nvPr/>
        </p:nvSpPr>
        <p:spPr>
          <a:xfrm xmlns:a="http://schemas.openxmlformats.org/drawingml/2006/main">
            <a:off x="8115300" y="135255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Persistent state</a:t>
            </a:r>
          </a:p>
        </p:txBody>
      </p:sp>
      <p:sp>
        <p:nvSpPr>
          <p:cNvPr id="16" name="Rectangle: Rounded Corners 15">
            <a:extLst xmlns:a="http://schemas.openxmlformats.org/drawingml/2006/main">
              <a:ext uri="{FF2B5EF4-FFF2-40B4-BE49-F238E27FC236}">
                <a16:creationId xmlns:a16="http://schemas.microsoft.com/office/drawing/2014/main" id="{4AA4599D-779C-4417-97A5-CB0915E2ECE5}"/>
              </a:ext>
            </a:extLst>
          </p:cNvPr>
          <p:cNvSpPr>
            <a:spLocks xmlns:a="http://schemas.openxmlformats.org/drawingml/2006/main" noGrp="1"/>
          </p:cNvSpPr>
          <p:nvPr/>
        </p:nvSpPr>
        <p:spPr>
          <a:xfrm xmlns:a="http://schemas.openxmlformats.org/drawingml/2006/main">
            <a:off x="6191250" y="179070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Keyboard paths</a:t>
            </a:r>
          </a:p>
        </p:txBody>
      </p:sp>
      <p:sp>
        <p:nvSpPr>
          <p:cNvPr id="17" name="Rectangle: Rounded Corners 16">
            <a:extLst xmlns:a="http://schemas.openxmlformats.org/drawingml/2006/main">
              <a:ext uri="{FF2B5EF4-FFF2-40B4-BE49-F238E27FC236}">
                <a16:creationId xmlns:a16="http://schemas.microsoft.com/office/drawing/2014/main" id="{B92242AB-ED3B-4650-B458-278B53DB2CD9}"/>
              </a:ext>
            </a:extLst>
          </p:cNvPr>
          <p:cNvSpPr>
            <a:spLocks xmlns:a="http://schemas.openxmlformats.org/drawingml/2006/main" noGrp="1"/>
          </p:cNvSpPr>
          <p:nvPr/>
        </p:nvSpPr>
        <p:spPr>
          <a:xfrm xmlns:a="http://schemas.openxmlformats.org/drawingml/2006/main">
            <a:off x="8115300" y="179070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CSV + JSON</a:t>
            </a:r>
          </a:p>
        </p:txBody>
      </p:sp>
      <p:sp>
        <p:nvSpPr>
          <p:cNvPr id="18" name="Rectangle: Rounded Corners 17">
            <a:extLst xmlns:a="http://schemas.openxmlformats.org/drawingml/2006/main">
              <a:ext uri="{FF2B5EF4-FFF2-40B4-BE49-F238E27FC236}">
                <a16:creationId xmlns:a16="http://schemas.microsoft.com/office/drawing/2014/main" id="{F528E4A1-0386-43E5-B725-C94D6FFF5D39}"/>
              </a:ext>
            </a:extLst>
          </p:cNvPr>
          <p:cNvSpPr>
            <a:spLocks xmlns:a="http://schemas.openxmlformats.org/drawingml/2006/main" noGrp="1"/>
          </p:cNvSpPr>
          <p:nvPr/>
        </p:nvSpPr>
        <p:spPr>
          <a:xfrm xmlns:a="http://schemas.openxmlformats.org/drawingml/2006/main">
            <a:off x="6191250" y="222885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Responsive CSS</a:t>
            </a:r>
          </a:p>
        </p:txBody>
      </p:sp>
      <p:sp>
        <p:nvSpPr>
          <p:cNvPr id="19" name="Rectangle: Rounded Corners 18">
            <a:extLst xmlns:a="http://schemas.openxmlformats.org/drawingml/2006/main">
              <a:ext uri="{FF2B5EF4-FFF2-40B4-BE49-F238E27FC236}">
                <a16:creationId xmlns:a16="http://schemas.microsoft.com/office/drawing/2014/main" id="{8B5885AC-A0FE-4D26-A6EE-478E1BCEBDBC}"/>
              </a:ext>
            </a:extLst>
          </p:cNvPr>
          <p:cNvSpPr>
            <a:spLocks xmlns:a="http://schemas.openxmlformats.org/drawingml/2006/main" noGrp="1"/>
          </p:cNvSpPr>
          <p:nvPr/>
        </p:nvSpPr>
        <p:spPr>
          <a:xfrm xmlns:a="http://schemas.openxmlformats.org/drawingml/2006/main">
            <a:off x="8115300" y="222885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No database</a:t>
            </a:r>
          </a:p>
        </p:txBody>
      </p:sp>
      <p:sp>
        <p:nvSpPr>
          <p:cNvPr id="20" name="Rectangle: Rounded Corners 19">
            <a:extLst xmlns:a="http://schemas.openxmlformats.org/drawingml/2006/main">
              <a:ext uri="{FF2B5EF4-FFF2-40B4-BE49-F238E27FC236}">
                <a16:creationId xmlns:a16="http://schemas.microsoft.com/office/drawing/2014/main" id="{DADB77B8-642B-4FA0-83F2-E585A706D4FD}"/>
              </a:ext>
            </a:extLst>
          </p:cNvPr>
          <p:cNvSpPr>
            <a:spLocks xmlns:a="http://schemas.openxmlformats.org/drawingml/2006/main" noGrp="1"/>
          </p:cNvSpPr>
          <p:nvPr/>
        </p:nvSpPr>
        <p:spPr>
          <a:xfrm xmlns:a="http://schemas.openxmlformats.org/drawingml/2006/main">
            <a:off x="6191250" y="2667000"/>
            <a:ext cx="1695450" cy="323850"/>
          </a:xfrm>
          <a:prstGeom xmlns:a="http://schemas.openxmlformats.org/drawingml/2006/main" prst="roundRect">
            <a:avLst>
              <a:gd name="adj" fmla="val 50000"/>
            </a:avLst>
          </a:prstGeom>
          <a:solidFill xmlns:a="http://schemas.openxmlformats.org/drawingml/2006/main">
            <a:schemeClr val="tx2">
              <a:lumMod val="25000"/>
              <a:lumOff val="75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Portable hosting</a:t>
            </a:r>
          </a:p>
        </p:txBody>
      </p:sp>
      <p:sp>
        <p:nvSpPr>
          <p:cNvPr id="26" name="Arrow: Right 25">
            <a:extLst xmlns:a="http://schemas.openxmlformats.org/drawingml/2006/main">
              <a:ext uri="{FF2B5EF4-FFF2-40B4-BE49-F238E27FC236}">
                <a16:creationId xmlns:a16="http://schemas.microsoft.com/office/drawing/2014/main" id="{976D9F5A-084D-217A-F877-4455CA0E4D5C}"/>
              </a:ext>
            </a:extLst>
          </p:cNvPr>
          <p:cNvSpPr>
            <a:spLocks xmlns:a="http://schemas.openxmlformats.org/drawingml/2006/main" noGrp="1"/>
          </p:cNvSpPr>
          <p:nvPr/>
        </p:nvSpPr>
        <p:spPr>
          <a:xfrm xmlns:a="http://schemas.openxmlformats.org/drawingml/2006/main">
            <a:off x="7797649" y="4697750"/>
            <a:ext cx="542708" cy="499357"/>
          </a:xfrm>
          <a:prstGeom xmlns:a="http://schemas.openxmlformats.org/drawingml/2006/main" prst="rightArrow">
            <a:avLst/>
          </a:prstGeom>
          <a:solidFill xmlns:a="http://schemas.openxmlformats.org/drawingml/2006/main">
            <a:srgbClr val="C56A2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Rectangle: Rounded Corners 26">
            <a:extLst xmlns:a="http://schemas.openxmlformats.org/drawingml/2006/main">
              <a:ext uri="{FF2B5EF4-FFF2-40B4-BE49-F238E27FC236}">
                <a16:creationId xmlns:a16="http://schemas.microsoft.com/office/drawing/2014/main" id="{00D10EA1-FED5-C30F-C25D-6CB54A607F28}"/>
              </a:ext>
            </a:extLst>
          </p:cNvPr>
          <p:cNvSpPr>
            <a:spLocks xmlns:a="http://schemas.openxmlformats.org/drawingml/2006/main" noGrp="1"/>
          </p:cNvSpPr>
          <p:nvPr/>
        </p:nvSpPr>
        <p:spPr>
          <a:xfrm xmlns:a="http://schemas.openxmlformats.org/drawingml/2006/main">
            <a:off x="8115300" y="2667000"/>
            <a:ext cx="1695450" cy="323850"/>
          </a:xfrm>
          <a:prstGeom xmlns:a="http://schemas.openxmlformats.org/drawingml/2006/main" prst="roundRect">
            <a:avLst>
              <a:gd name="adj" fmla="val 50000"/>
            </a:avLst>
          </a:prstGeom>
          <a:solidFill xmlns:a="http://schemas.openxmlformats.org/drawingml/2006/main">
            <a:schemeClr val="tx2">
              <a:lumMod val="10000"/>
              <a:lumOff val="90000"/>
            </a:schemeClr>
          </a:solidFill>
          <a:ln xmlns:a="http://schemas.openxmlformats.org/drawingml/2006/main" w="0">
            <a:noFill/>
            <a:prstDash val="solid"/>
          </a:ln>
        </p:spPr>
        <p:txBody>
          <a:bodyPr xmlns:a="http://schemas.openxmlformats.org/drawingml/2006/main" lIns="76200" tIns="19050" rIns="76200" bIns="19050" anchor="ctr"/>
          <a:lstStyle xmlns:a="http://schemas.openxmlformats.org/drawingml/2006/main"/>
          <a:p xmlns:a="http://schemas.openxmlformats.org/drawingml/2006/main">
            <a:pPr algn="ctr">
              <a:buNone/>
              <a:defRPr sz="1050" b="1">
                <a:solidFill>
                  <a:srgbClr val="0B1F3A"/>
                </a:solidFill>
                <a:latin typeface="Aptos"/>
                <a:ea typeface="Aptos"/>
                <a:cs typeface="Aptos"/>
              </a:defRPr>
            </a:pPr>
            <a:r>
              <a:rPr sz="1050" b="1">
                <a:solidFill>
                  <a:srgbClr val="0B1F3A"/>
                </a:solidFill>
                <a:latin typeface="Aptos"/>
                <a:ea typeface="Aptos"/>
                <a:cs typeface="Aptos"/>
              </a:rPr>
              <a:t>Inspectable build</a:t>
            </a:r>
          </a:p>
        </p:txBody>
      </p:sp>
    </p:spTree>
    <p:extLst>
      <p:ext uri="{BB962C8B-B14F-4D97-AF65-F5344CB8AC3E}">
        <p14:creationId xmlns:p14="http://schemas.microsoft.com/office/powerpoint/2010/main" val="50842948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D0B688AC-8BC2-40B3-9562-3C2C1CC78C66}"/>
              </a:ext>
            </a:extLst>
          </p:cNvPr>
          <p:cNvSpPr>
            <a:spLocks xmlns:a="http://schemas.openxmlformats.org/drawingml/2006/main" noGrp="1"/>
          </p:cNvSpPr>
          <p:nvPr/>
        </p:nvSpPr>
        <p:spPr>
          <a:xfrm xmlns:a="http://schemas.openxmlformats.org/drawingml/2006/main">
            <a:off x="609600" y="285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900" b="1">
                <a:solidFill>
                  <a:srgbClr val="C56A27"/>
                </a:solidFill>
                <a:latin typeface="Aptos"/>
                <a:ea typeface="Aptos"/>
                <a:cs typeface="Aptos"/>
              </a:defRPr>
            </a:pPr>
            <a:r>
              <a:rPr sz="900" b="1">
                <a:solidFill>
                  <a:srgbClr val="C56A27"/>
                </a:solidFill>
                <a:latin typeface="Aptos"/>
                <a:ea typeface="Aptos"/>
                <a:cs typeface="Aptos"/>
              </a:rPr>
              <a:t>CONCLUSION</a:t>
            </a:r>
          </a:p>
        </p:txBody>
      </p:sp>
      <p:sp>
        <p:nvSpPr>
          <p:cNvPr id="2" name="Rectangle 1">
            <a:extLst xmlns:a="http://schemas.openxmlformats.org/drawingml/2006/main">
              <a:ext uri="{FF2B5EF4-FFF2-40B4-BE49-F238E27FC236}">
                <a16:creationId xmlns:a16="http://schemas.microsoft.com/office/drawing/2014/main" id="{60E2DEBD-153C-4B70-AEB5-4D61D3B6835C}"/>
              </a:ext>
            </a:extLst>
          </p:cNvPr>
          <p:cNvSpPr>
            <a:spLocks xmlns:a="http://schemas.openxmlformats.org/drawingml/2006/main" noGrp="1"/>
          </p:cNvSpPr>
          <p:nvPr/>
        </p:nvSpPr>
        <p:spPr>
          <a:xfrm xmlns:a="http://schemas.openxmlformats.org/drawingml/2006/main">
            <a:off x="609600" y="552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96000"/>
              </a:lnSpc>
              <a:buNone/>
              <a:defRPr sz="2850" b="1">
                <a:solidFill>
                  <a:srgbClr val="0B1F3A"/>
                </a:solidFill>
                <a:latin typeface="Aptos"/>
                <a:ea typeface="Aptos"/>
                <a:cs typeface="Aptos"/>
              </a:defRPr>
            </a:pPr>
            <a:r>
              <a:rPr sz="2850" b="1">
                <a:solidFill>
                  <a:srgbClr val="0B1F3A"/>
                </a:solidFill>
                <a:latin typeface="Aptos"/>
                <a:ea typeface="Aptos"/>
                <a:cs typeface="Aptos"/>
              </a:rPr>
              <a:t>The dashboard explains itself at the point of use</a:t>
            </a:r>
          </a:p>
        </p:txBody>
      </p:sp>
      <p:sp>
        <p:nvSpPr>
          <p:cNvPr id="3" name="Straight Connector 2">
            <a:extLst xmlns:a="http://schemas.openxmlformats.org/drawingml/2006/main">
              <a:ext uri="{FF2B5EF4-FFF2-40B4-BE49-F238E27FC236}">
                <a16:creationId xmlns:a16="http://schemas.microsoft.com/office/drawing/2014/main" id="{23492FA4-B2DE-40E9-ADFB-00E7FCDA99B6}"/>
              </a:ext>
            </a:extLst>
          </p:cNvPr>
          <p:cNvSpPr>
            <a:spLocks xmlns:a="http://schemas.openxmlformats.org/drawingml/2006/main" noGrp="1"/>
          </p:cNvSpPr>
          <p:nvPr/>
        </p:nvSpPr>
        <p:spPr>
          <a:xfrm xmlns:a="http://schemas.openxmlformats.org/drawingml/2006/main">
            <a:off x="609600" y="6534150"/>
            <a:ext cx="96202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4B87E2E1-1762-4052-B1FD-2E6CDB6F558B}"/>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r">
              <a:lnSpc>
                <a:spcPct val="108000"/>
              </a:lnSpc>
              <a:buNone/>
              <a:defRPr sz="825" b="0">
                <a:solidFill>
                  <a:srgbClr val="5B6472"/>
                </a:solidFill>
                <a:latin typeface="Aptos"/>
                <a:ea typeface="Aptos"/>
                <a:cs typeface="Aptos"/>
              </a:defRPr>
            </a:pPr>
            <a:r>
              <a:rPr sz="825" b="0">
                <a:solidFill>
                  <a:srgbClr val="5B6472"/>
                </a:solidFill>
                <a:latin typeface="Aptos"/>
                <a:ea typeface="Aptos"/>
                <a:cs typeface="Aptos"/>
              </a:rPr>
              <a:t>Beyond Points Per Game / 10</a:t>
            </a:r>
          </a:p>
        </p:txBody>
      </p:sp>
      <p:sp>
        <p:nvSpPr>
          <p:cNvPr id="5" name="Rectangle: Rounded Corners 4">
            <a:extLst xmlns:a="http://schemas.openxmlformats.org/drawingml/2006/main">
              <a:ext uri="{FF2B5EF4-FFF2-40B4-BE49-F238E27FC236}">
                <a16:creationId xmlns:a16="http://schemas.microsoft.com/office/drawing/2014/main" id="{DE50AC34-163A-40AD-980C-17CC8D533988}"/>
              </a:ext>
            </a:extLst>
          </p:cNvPr>
          <p:cNvSpPr>
            <a:spLocks xmlns:a="http://schemas.openxmlformats.org/drawingml/2006/main" noGrp="1"/>
          </p:cNvSpPr>
          <p:nvPr/>
        </p:nvSpPr>
        <p:spPr>
          <a:xfrm xmlns:a="http://schemas.openxmlformats.org/drawingml/2006/main">
            <a:off x="685800" y="1714500"/>
            <a:ext cx="3190875"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FA40A456-FC32-435D-B94F-98EA580CC268}"/>
              </a:ext>
            </a:extLst>
          </p:cNvPr>
          <p:cNvSpPr>
            <a:spLocks xmlns:a="http://schemas.openxmlformats.org/drawingml/2006/main" noGrp="1"/>
          </p:cNvSpPr>
          <p:nvPr/>
        </p:nvSpPr>
        <p:spPr>
          <a:xfrm xmlns:a="http://schemas.openxmlformats.org/drawingml/2006/main">
            <a:off x="895350" y="19240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950" b="1">
                <a:solidFill>
                  <a:srgbClr val="0B1F3A"/>
                </a:solidFill>
                <a:latin typeface="Aptos"/>
                <a:ea typeface="Aptos"/>
                <a:cs typeface="Aptos"/>
              </a:defRPr>
            </a:pPr>
            <a:r>
              <a:rPr sz="1950" b="1">
                <a:solidFill>
                  <a:srgbClr val="0B1F3A"/>
                </a:solidFill>
                <a:latin typeface="Aptos"/>
                <a:ea typeface="Aptos"/>
                <a:cs typeface="Aptos"/>
              </a:rPr>
              <a:t>What changed</a:t>
            </a:r>
          </a:p>
        </p:txBody>
      </p:sp>
      <p:sp>
        <p:nvSpPr>
          <p:cNvPr id="7" name="Rectangle 6">
            <a:extLst xmlns:a="http://schemas.openxmlformats.org/drawingml/2006/main">
              <a:ext uri="{FF2B5EF4-FFF2-40B4-BE49-F238E27FC236}">
                <a16:creationId xmlns:a16="http://schemas.microsoft.com/office/drawing/2014/main" id="{FF7C30A7-F4D9-4A98-8B04-4D4574720298}"/>
              </a:ext>
            </a:extLst>
          </p:cNvPr>
          <p:cNvSpPr>
            <a:spLocks xmlns:a="http://schemas.openxmlformats.org/drawingml/2006/main" noGrp="1"/>
          </p:cNvSpPr>
          <p:nvPr/>
        </p:nvSpPr>
        <p:spPr>
          <a:xfrm xmlns:a="http://schemas.openxmlformats.org/drawingml/2006/main">
            <a:off x="914400" y="2400300"/>
            <a:ext cx="27241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Guided comparison workflow</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Persistent state and exact values</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Roster-level responsibility view</a:t>
            </a:r>
          </a:p>
        </p:txBody>
      </p:sp>
      <p:sp>
        <p:nvSpPr>
          <p:cNvPr id="8" name="Rectangle: Rounded Corners 7">
            <a:extLst xmlns:a="http://schemas.openxmlformats.org/drawingml/2006/main">
              <a:ext uri="{FF2B5EF4-FFF2-40B4-BE49-F238E27FC236}">
                <a16:creationId xmlns:a16="http://schemas.microsoft.com/office/drawing/2014/main" id="{5E1D4CEB-6F87-4881-B56F-E591E937348D}"/>
              </a:ext>
            </a:extLst>
          </p:cNvPr>
          <p:cNvSpPr>
            <a:spLocks xmlns:a="http://schemas.openxmlformats.org/drawingml/2006/main" noGrp="1"/>
          </p:cNvSpPr>
          <p:nvPr/>
        </p:nvSpPr>
        <p:spPr>
          <a:xfrm xmlns:a="http://schemas.openxmlformats.org/drawingml/2006/main">
            <a:off x="4495800" y="1714500"/>
            <a:ext cx="3190875"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EA15B11-4BA8-48EB-A671-9C034524AEEE}"/>
              </a:ext>
            </a:extLst>
          </p:cNvPr>
          <p:cNvSpPr>
            <a:spLocks xmlns:a="http://schemas.openxmlformats.org/drawingml/2006/main" noGrp="1"/>
          </p:cNvSpPr>
          <p:nvPr/>
        </p:nvSpPr>
        <p:spPr>
          <a:xfrm xmlns:a="http://schemas.openxmlformats.org/drawingml/2006/main">
            <a:off x="4705350" y="19240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950" b="1">
                <a:solidFill>
                  <a:srgbClr val="C56A27"/>
                </a:solidFill>
                <a:latin typeface="Aptos"/>
                <a:ea typeface="Aptos"/>
                <a:cs typeface="Aptos"/>
              </a:defRPr>
            </a:pPr>
            <a:r>
              <a:rPr sz="1950" b="1">
                <a:solidFill>
                  <a:srgbClr val="C56A27"/>
                </a:solidFill>
                <a:latin typeface="Aptos"/>
                <a:ea typeface="Aptos"/>
                <a:cs typeface="Aptos"/>
              </a:rPr>
              <a:t>What testing showed</a:t>
            </a:r>
          </a:p>
        </p:txBody>
      </p:sp>
      <p:sp>
        <p:nvSpPr>
          <p:cNvPr id="10" name="Rectangle 9">
            <a:extLst xmlns:a="http://schemas.openxmlformats.org/drawingml/2006/main">
              <a:ext uri="{FF2B5EF4-FFF2-40B4-BE49-F238E27FC236}">
                <a16:creationId xmlns:a16="http://schemas.microsoft.com/office/drawing/2014/main" id="{94CC3DEC-D290-4A54-83FC-43323ABFE5CD}"/>
              </a:ext>
            </a:extLst>
          </p:cNvPr>
          <p:cNvSpPr>
            <a:spLocks xmlns:a="http://schemas.openxmlformats.org/drawingml/2006/main" noGrp="1"/>
          </p:cNvSpPr>
          <p:nvPr/>
        </p:nvSpPr>
        <p:spPr>
          <a:xfrm xmlns:a="http://schemas.openxmlformats.org/drawingml/2006/main">
            <a:off x="4724400" y="2400300"/>
            <a:ext cx="27241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Plain language builds trust</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Bars and tables support precise answers</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Repeated guardrails reduce overreach</a:t>
            </a:r>
          </a:p>
        </p:txBody>
      </p:sp>
      <p:sp>
        <p:nvSpPr>
          <p:cNvPr id="11" name="Rectangle: Rounded Corners 10">
            <a:extLst xmlns:a="http://schemas.openxmlformats.org/drawingml/2006/main">
              <a:ext uri="{FF2B5EF4-FFF2-40B4-BE49-F238E27FC236}">
                <a16:creationId xmlns:a16="http://schemas.microsoft.com/office/drawing/2014/main" id="{A676EA3A-1A14-4757-9DF1-AE4EB9BBE76F}"/>
              </a:ext>
            </a:extLst>
          </p:cNvPr>
          <p:cNvSpPr>
            <a:spLocks xmlns:a="http://schemas.openxmlformats.org/drawingml/2006/main" noGrp="1"/>
          </p:cNvSpPr>
          <p:nvPr/>
        </p:nvSpPr>
        <p:spPr>
          <a:xfrm xmlns:a="http://schemas.openxmlformats.org/drawingml/2006/main">
            <a:off x="8305800" y="1714500"/>
            <a:ext cx="3190875"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5E0683F6-8E8B-496F-86F9-C8CF67F2114A}"/>
              </a:ext>
            </a:extLst>
          </p:cNvPr>
          <p:cNvSpPr>
            <a:spLocks xmlns:a="http://schemas.openxmlformats.org/drawingml/2006/main" noGrp="1"/>
          </p:cNvSpPr>
          <p:nvPr/>
        </p:nvSpPr>
        <p:spPr>
          <a:xfrm xmlns:a="http://schemas.openxmlformats.org/drawingml/2006/main">
            <a:off x="8515350" y="19240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950" b="1">
                <a:solidFill>
                  <a:srgbClr val="0B1F3A"/>
                </a:solidFill>
                <a:latin typeface="Aptos"/>
                <a:ea typeface="Aptos"/>
                <a:cs typeface="Aptos"/>
              </a:defRPr>
            </a:pPr>
            <a:r>
              <a:rPr sz="1950" b="1">
                <a:solidFill>
                  <a:srgbClr val="0B1F3A"/>
                </a:solidFill>
                <a:latin typeface="Aptos"/>
                <a:ea typeface="Aptos"/>
                <a:cs typeface="Aptos"/>
              </a:rPr>
              <a:t>What remains limited</a:t>
            </a:r>
          </a:p>
        </p:txBody>
      </p:sp>
      <p:sp>
        <p:nvSpPr>
          <p:cNvPr id="13" name="Rectangle 12">
            <a:extLst xmlns:a="http://schemas.openxmlformats.org/drawingml/2006/main">
              <a:ext uri="{FF2B5EF4-FFF2-40B4-BE49-F238E27FC236}">
                <a16:creationId xmlns:a16="http://schemas.microsoft.com/office/drawing/2014/main" id="{8D7C9D90-A172-4F18-B3DC-6ADF1C3E5DAF}"/>
              </a:ext>
            </a:extLst>
          </p:cNvPr>
          <p:cNvSpPr>
            <a:spLocks xmlns:a="http://schemas.openxmlformats.org/drawingml/2006/main" noGrp="1"/>
          </p:cNvSpPr>
          <p:nvPr/>
        </p:nvSpPr>
        <p:spPr>
          <a:xfrm xmlns:a="http://schemas.openxmlformats.org/drawingml/2006/main">
            <a:off x="8534400" y="2400300"/>
            <a:ext cx="27241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Descriptive, not causal</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Minutes-based rotation proxy</a:t>
            </a:r>
          </a:p>
          <a:p xmlns:a="http://schemas.openxmlformats.org/drawingml/2006/main">
            <a:pPr algn="l">
              <a:lnSpc>
                <a:spcPct val="118000"/>
              </a:lnSpc>
              <a:buNone/>
              <a:defRPr sz="1275" b="0">
                <a:solidFill>
                  <a:srgbClr val="111827"/>
                </a:solidFill>
                <a:latin typeface="Aptos"/>
                <a:ea typeface="Aptos"/>
                <a:cs typeface="Aptos"/>
              </a:defRPr>
            </a:pPr>
            <a:r>
              <a:rPr sz="1275" b="0">
                <a:solidFill>
                  <a:srgbClr val="111827"/>
                </a:solidFill>
                <a:latin typeface="Aptos"/>
                <a:ea typeface="Aptos"/>
                <a:cs typeface="Aptos"/>
              </a:rPr>
              <a:t>- No lineup, injury, coaching, or full-defense model</a:t>
            </a:r>
          </a:p>
        </p:txBody>
      </p:sp>
      <p:sp>
        <p:nvSpPr>
          <p:cNvPr id="14" name="Rectangle 13">
            <a:extLst xmlns:a="http://schemas.openxmlformats.org/drawingml/2006/main">
              <a:ext uri="{FF2B5EF4-FFF2-40B4-BE49-F238E27FC236}">
                <a16:creationId xmlns:a16="http://schemas.microsoft.com/office/drawing/2014/main" id="{424B8BFD-8145-47D4-BC60-105A9E43B0D9}"/>
              </a:ext>
            </a:extLst>
          </p:cNvPr>
          <p:cNvSpPr>
            <a:spLocks xmlns:a="http://schemas.openxmlformats.org/drawingml/2006/main" noGrp="1"/>
          </p:cNvSpPr>
          <p:nvPr/>
        </p:nvSpPr>
        <p:spPr>
          <a:xfrm xmlns:a="http://schemas.openxmlformats.org/drawingml/2006/main">
            <a:off x="761998" y="4495800"/>
            <a:ext cx="7658987" cy="692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650" b="1">
                <a:solidFill>
                  <a:srgbClr val="17324D"/>
                </a:solidFill>
                <a:latin typeface="Aptos"/>
                <a:ea typeface="Aptos"/>
                <a:cs typeface="Aptos"/>
              </a:defRPr>
            </a:pPr>
            <a:r>
              <a:rPr sz="1650" b="1">
                <a:solidFill>
                  <a:srgbClr val="17324D"/>
                </a:solidFill>
                <a:latin typeface="Aptos"/>
                <a:ea typeface="Aptos"/>
                <a:cs typeface="Aptos"/>
              </a:rPr>
              <a:t>Live project: https://kennydolgin.github.io/nba-project/</a:t>
            </a:r>
          </a:p>
        </p:txBody>
      </p:sp>
      <p:sp>
        <p:nvSpPr>
          <p:cNvPr id="15" name="Rectangle 14">
            <a:extLst xmlns:a="http://schemas.openxmlformats.org/drawingml/2006/main">
              <a:ext uri="{FF2B5EF4-FFF2-40B4-BE49-F238E27FC236}">
                <a16:creationId xmlns:a16="http://schemas.microsoft.com/office/drawing/2014/main" id="{2105936E-4D6C-466D-82A5-09546643FD39}"/>
              </a:ext>
            </a:extLst>
          </p:cNvPr>
          <p:cNvSpPr>
            <a:spLocks xmlns:a="http://schemas.openxmlformats.org/drawingml/2006/main" noGrp="1"/>
          </p:cNvSpPr>
          <p:nvPr/>
        </p:nvSpPr>
        <p:spPr>
          <a:xfrm xmlns:a="http://schemas.openxmlformats.org/drawingml/2006/main">
            <a:off x="761999" y="5094127"/>
            <a:ext cx="5750767"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lstStyle xmlns:a="http://schemas.openxmlformats.org/drawingml/2006/main"/>
          <a:p xmlns:a="http://schemas.openxmlformats.org/drawingml/2006/main">
            <a:pPr algn="l">
              <a:lnSpc>
                <a:spcPct val="108000"/>
              </a:lnSpc>
              <a:buNone/>
              <a:defRPr sz="1575" b="1">
                <a:solidFill>
                  <a:srgbClr val="C56A27"/>
                </a:solidFill>
                <a:latin typeface="Aptos"/>
                <a:ea typeface="Aptos"/>
                <a:cs typeface="Aptos"/>
              </a:defRPr>
            </a:pPr>
            <a:r>
              <a:rPr sz="2400" b="1">
                <a:solidFill>
                  <a:srgbClr val="C56A27"/>
                </a:solidFill>
                <a:latin typeface="Aptos"/>
                <a:ea typeface="Aptos"/>
                <a:cs typeface="Aptos"/>
              </a:rPr>
              <a:t>Questions?</a:t>
            </a:r>
          </a:p>
        </p:txBody>
      </p:sp>
    </p:spTree>
    <p:extLst>
      <p:ext uri="{BB962C8B-B14F-4D97-AF65-F5344CB8AC3E}">
        <p14:creationId xmlns:p14="http://schemas.microsoft.com/office/powerpoint/2010/main" val="1612496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2026-07-30T01:35:42.3620000Z</dcterms:created>
  <dcterms:modified xsi:type="dcterms:W3CDTF">2026-07-30T01:35:42.3620000Z</dcterms:modified>
</coreProperties>
</file>